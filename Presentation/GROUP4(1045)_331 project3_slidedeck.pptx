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Inter"/>
      <p:regular r:id="rId28"/>
      <p:bold r:id="rId29"/>
      <p:italic r:id="rId30"/>
      <p:boldItalic r:id="rId31"/>
    </p:embeddedFont>
    <p:embeddedFont>
      <p:font typeface="Roboto Mon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4C5EF4-44C3-46DC-9021-66A94354057C}">
  <a:tblStyle styleId="{D94C5EF4-44C3-46DC-9021-66A94354057C}"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Inter-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boldItalic.fntdata"/><Relationship Id="rId30" Type="http://schemas.openxmlformats.org/officeDocument/2006/relationships/font" Target="fonts/Inter-italic.fntdata"/><Relationship Id="rId11" Type="http://schemas.openxmlformats.org/officeDocument/2006/relationships/slide" Target="slides/slide5.xml"/><Relationship Id="rId33" Type="http://schemas.openxmlformats.org/officeDocument/2006/relationships/font" Target="fonts/RobotoMono-bold.fntdata"/><Relationship Id="rId10" Type="http://schemas.openxmlformats.org/officeDocument/2006/relationships/slide" Target="slides/slide4.xml"/><Relationship Id="rId32" Type="http://schemas.openxmlformats.org/officeDocument/2006/relationships/font" Target="fonts/RobotoMono-regular.fntdata"/><Relationship Id="rId13" Type="http://schemas.openxmlformats.org/officeDocument/2006/relationships/slide" Target="slides/slide7.xml"/><Relationship Id="rId35" Type="http://schemas.openxmlformats.org/officeDocument/2006/relationships/font" Target="fonts/RobotoMono-boldItalic.fntdata"/><Relationship Id="rId12" Type="http://schemas.openxmlformats.org/officeDocument/2006/relationships/slide" Target="slides/slide6.xml"/><Relationship Id="rId34" Type="http://schemas.openxmlformats.org/officeDocument/2006/relationships/font" Target="fonts/RobotoMono-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b732f833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ab732f833c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a8c02431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aa8c02431f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b7d8135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ab7d81358c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b732f833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ab732f833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b732f83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g3ab732f833c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b7d81358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ab7d81358c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ba269d484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aba269d484_1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b7d81358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ab7d81358c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ba269d484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g3aba269d484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b732f83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ab732f833c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ab871cf9d1_2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ab871cf9d1_2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ab871cf9d1_2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ab871cf9d1_2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b871cf9d1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b871cf9d1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ab7d81358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ab7d81358c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ba269d484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aba269d48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ab7d81358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ab7d81358c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9" name="Google Shape;19;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5" name="Google Shape;25;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1" name="Google Shape;31;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8" name="Google Shape;38;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4" name="Google Shape;44;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5" name="Google Shape;45;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6" name="Google Shape;46;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7" name="Google Shape;4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8" name="Google Shape;58;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9" name="Google Shape;59;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p:nvPr>
            <p:ph idx="2" type="pic"/>
          </p:nvPr>
        </p:nvSpPr>
        <p:spPr>
          <a:xfrm>
            <a:off x="1792288" y="612775"/>
            <a:ext cx="5486400" cy="4114800"/>
          </a:xfrm>
          <a:prstGeom prst="rect">
            <a:avLst/>
          </a:prstGeom>
          <a:noFill/>
          <a:ln>
            <a:noFill/>
          </a:ln>
        </p:spPr>
      </p:sp>
      <p:sp>
        <p:nvSpPr>
          <p:cNvPr id="65" name="Google Shape;65;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6" name="Google Shape;66;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2" name="Google Shape;72;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8" name="Google Shape;7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descr="Linear abstract background, vector design 3D lines in perspective, curve and wave lines in motion, smooth and soft backdrop. (Provided by Getty Images)" id="11" name="Google Shape;11;p1"/>
          <p:cNvPicPr preferRelativeResize="0"/>
          <p:nvPr/>
        </p:nvPicPr>
        <p:blipFill rotWithShape="1">
          <a:blip r:embed="rId1">
            <a:alphaModFix/>
          </a:blip>
          <a:srcRect b="0" l="17922" r="17929" t="0"/>
          <a:stretch/>
        </p:blipFill>
        <p:spPr>
          <a:xfrm>
            <a:off x="0" y="0"/>
            <a:ext cx="12192000" cy="685800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4.png"/><Relationship Id="rId7"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sqlservertutorial.net/sql-server-basics/sql-server-alter-schema/#:~:text=The%20following%20shows%20the%20syntax,cannot%20be%20SYS%20or%20INFORMATION_SCHEMA%20." TargetMode="External"/><Relationship Id="rId4" Type="http://schemas.openxmlformats.org/officeDocument/2006/relationships/hyperlink" Target="https://www.geeksforgeeks.org/sql/alter-schema-in-sql-server/#:~:text=The%20SQL%20Server%20ALTER%20SCHEMA,schema%20in%20the%20same%20database." TargetMode="External"/><Relationship Id="rId5" Type="http://schemas.openxmlformats.org/officeDocument/2006/relationships/hyperlink" Target="https://learn.microsoft.com/en-us/sql/relational-databases/tables/unique-constraints-and-check-constraints?view=sql-server-ver17" TargetMode="External"/><Relationship Id="rId6" Type="http://schemas.openxmlformats.org/officeDocument/2006/relationships/hyperlink" Target="https://www.red-gate.com/simple-talk/databases/sql-server/database-administration-sql-server/refactoring-databases-the-process/#:~:text=Database%20refactoring%20changes%20the%20schema,a%20common%20format%20to%20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84" name="Shape 84"/>
        <p:cNvGrpSpPr/>
        <p:nvPr/>
      </p:nvGrpSpPr>
      <p:grpSpPr>
        <a:xfrm>
          <a:off x="0" y="0"/>
          <a:ext cx="0" cy="0"/>
          <a:chOff x="0" y="0"/>
          <a:chExt cx="0" cy="0"/>
        </a:xfrm>
      </p:grpSpPr>
      <p:sp>
        <p:nvSpPr>
          <p:cNvPr id="85" name="Google Shape;85;p13"/>
          <p:cNvSpPr txBox="1"/>
          <p:nvPr/>
        </p:nvSpPr>
        <p:spPr>
          <a:xfrm>
            <a:off x="762000" y="1590675"/>
            <a:ext cx="11201400" cy="8313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lang="en-US" sz="5400">
                <a:solidFill>
                  <a:schemeClr val="dk1"/>
                </a:solidFill>
              </a:rPr>
              <a:t>PROJECT 3: PRESTIGE CARS</a:t>
            </a:r>
            <a:endParaRPr>
              <a:solidFill>
                <a:schemeClr val="dk1"/>
              </a:solidFill>
            </a:endParaRPr>
          </a:p>
        </p:txBody>
      </p:sp>
      <p:sp>
        <p:nvSpPr>
          <p:cNvPr id="86" name="Google Shape;86;p13"/>
          <p:cNvSpPr txBox="1"/>
          <p:nvPr/>
        </p:nvSpPr>
        <p:spPr>
          <a:xfrm>
            <a:off x="762000" y="2535435"/>
            <a:ext cx="112014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600">
                <a:solidFill>
                  <a:schemeClr val="dk1"/>
                </a:solidFill>
              </a:rPr>
              <a:t>Group 4: Fahim Tanvir, Sayantan Saha, Yousef Ahmed, Esfar Rakin, Justin Zara</a:t>
            </a:r>
            <a:endParaRPr>
              <a:solidFill>
                <a:schemeClr val="dk1"/>
              </a:solidFill>
            </a:endParaRPr>
          </a:p>
        </p:txBody>
      </p:sp>
      <p:sp>
        <p:nvSpPr>
          <p:cNvPr id="87" name="Google Shape;87;p13"/>
          <p:cNvSpPr txBox="1"/>
          <p:nvPr/>
        </p:nvSpPr>
        <p:spPr>
          <a:xfrm>
            <a:off x="595200" y="1533100"/>
            <a:ext cx="113682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5600">
              <a:solidFill>
                <a:schemeClr val="dk1"/>
              </a:solidFill>
              <a:highlight>
                <a:srgbClr val="FF0000"/>
              </a:highlight>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91" name="Shape 91"/>
        <p:cNvGrpSpPr/>
        <p:nvPr/>
      </p:nvGrpSpPr>
      <p:grpSpPr>
        <a:xfrm>
          <a:off x="0" y="0"/>
          <a:ext cx="0" cy="0"/>
          <a:chOff x="0" y="0"/>
          <a:chExt cx="0" cy="0"/>
        </a:xfrm>
      </p:grpSpPr>
      <p:pic>
        <p:nvPicPr>
          <p:cNvPr id="92" name="Google Shape;92;p14"/>
          <p:cNvPicPr preferRelativeResize="0"/>
          <p:nvPr/>
        </p:nvPicPr>
        <p:blipFill>
          <a:blip r:embed="rId3">
            <a:alphaModFix/>
          </a:blip>
          <a:stretch>
            <a:fillRect/>
          </a:stretch>
        </p:blipFill>
        <p:spPr>
          <a:xfrm>
            <a:off x="5978950" y="1535201"/>
            <a:ext cx="5937851" cy="2532775"/>
          </a:xfrm>
          <a:prstGeom prst="rect">
            <a:avLst/>
          </a:prstGeom>
          <a:noFill/>
          <a:ln>
            <a:noFill/>
          </a:ln>
        </p:spPr>
      </p:pic>
      <p:sp>
        <p:nvSpPr>
          <p:cNvPr id="93" name="Google Shape;93;p1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Introduction:</a:t>
            </a:r>
            <a:endParaRPr>
              <a:solidFill>
                <a:schemeClr val="accent2"/>
              </a:solidFill>
            </a:endParaRPr>
          </a:p>
        </p:txBody>
      </p:sp>
      <p:sp>
        <p:nvSpPr>
          <p:cNvPr id="94" name="Google Shape;94;p14"/>
          <p:cNvSpPr txBox="1"/>
          <p:nvPr/>
        </p:nvSpPr>
        <p:spPr>
          <a:xfrm>
            <a:off x="571500" y="1125600"/>
            <a:ext cx="5238900" cy="720300"/>
          </a:xfrm>
          <a:prstGeom prst="rect">
            <a:avLst/>
          </a:prstGeom>
          <a:noFill/>
          <a:ln>
            <a:noFill/>
          </a:ln>
        </p:spPr>
        <p:txBody>
          <a:bodyPr anchorCtr="0" anchor="t" bIns="0" lIns="0" spcFirstLastPara="1" rIns="0" wrap="square" tIns="0">
            <a:spAutoFit/>
          </a:bodyPr>
          <a:lstStyle/>
          <a:p>
            <a:pPr indent="-342900" lvl="0" marL="457200" marR="0" rtl="0" algn="l">
              <a:lnSpc>
                <a:spcPct val="159944"/>
              </a:lnSpc>
              <a:spcBef>
                <a:spcPts val="0"/>
              </a:spcBef>
              <a:spcAft>
                <a:spcPts val="0"/>
              </a:spcAft>
              <a:buClr>
                <a:schemeClr val="dk1"/>
              </a:buClr>
              <a:buSzPts val="1800"/>
              <a:buChar char="●"/>
            </a:pPr>
            <a:r>
              <a:rPr lang="en-US" sz="1800">
                <a:solidFill>
                  <a:schemeClr val="dk1"/>
                </a:solidFill>
              </a:rPr>
              <a:t>SQL</a:t>
            </a:r>
            <a:r>
              <a:rPr i="0" lang="en-US" sz="1800" u="none" cap="none" strike="noStrike">
                <a:solidFill>
                  <a:schemeClr val="dk1"/>
                </a:solidFill>
              </a:rPr>
              <a:t> naturally uses</a:t>
            </a:r>
            <a:r>
              <a:rPr lang="en-US" sz="1800">
                <a:solidFill>
                  <a:schemeClr val="dk1"/>
                </a:solidFill>
              </a:rPr>
              <a:t> </a:t>
            </a:r>
            <a:r>
              <a:rPr i="0" lang="en-US" sz="1800" u="none" cap="none" strike="noStrike">
                <a:solidFill>
                  <a:schemeClr val="dk1"/>
                </a:solidFill>
              </a:rPr>
              <a:t> True, False, and Unknown (NULL).</a:t>
            </a:r>
            <a:endParaRPr>
              <a:solidFill>
                <a:schemeClr val="dk1"/>
              </a:solidFill>
            </a:endParaRPr>
          </a:p>
        </p:txBody>
      </p:sp>
      <p:sp>
        <p:nvSpPr>
          <p:cNvPr id="95" name="Google Shape;95;p14"/>
          <p:cNvSpPr txBox="1"/>
          <p:nvPr/>
        </p:nvSpPr>
        <p:spPr>
          <a:xfrm>
            <a:off x="571500" y="4808400"/>
            <a:ext cx="10514700" cy="20496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lang="en-US" sz="1800">
                <a:solidFill>
                  <a:schemeClr val="dk1"/>
                </a:solidFill>
                <a:latin typeface="Inter"/>
                <a:ea typeface="Inter"/>
                <a:cs typeface="Inter"/>
                <a:sym typeface="Inter"/>
              </a:rPr>
              <a:t>Our goal is to </a:t>
            </a:r>
            <a:r>
              <a:rPr i="0" lang="en-US" sz="1800" u="none" cap="none" strike="noStrike">
                <a:solidFill>
                  <a:schemeClr val="dk1"/>
                </a:solidFill>
                <a:latin typeface="Inter"/>
                <a:ea typeface="Inter"/>
                <a:cs typeface="Inter"/>
                <a:sym typeface="Inter"/>
              </a:rPr>
              <a:t>reorganize </a:t>
            </a:r>
            <a:r>
              <a:rPr lang="en-US" sz="1800">
                <a:solidFill>
                  <a:schemeClr val="dk1"/>
                </a:solidFill>
                <a:latin typeface="Inter"/>
                <a:ea typeface="Inter"/>
                <a:cs typeface="Inter"/>
                <a:sym typeface="Inter"/>
              </a:rPr>
              <a:t>Prestige Cars</a:t>
            </a:r>
            <a:r>
              <a:rPr lang="en-US" sz="1800">
                <a:solidFill>
                  <a:schemeClr val="dk1"/>
                </a:solidFill>
                <a:latin typeface="Inter"/>
                <a:ea typeface="Inter"/>
                <a:cs typeface="Inter"/>
                <a:sym typeface="Inter"/>
              </a:rPr>
              <a:t>, </a:t>
            </a:r>
            <a:r>
              <a:rPr lang="en-US" sz="1800">
                <a:solidFill>
                  <a:schemeClr val="dk1"/>
                </a:solidFill>
                <a:latin typeface="Inter"/>
                <a:ea typeface="Inter"/>
                <a:cs typeface="Inter"/>
                <a:sym typeface="Inter"/>
              </a:rPr>
              <a:t>which</a:t>
            </a:r>
            <a:r>
              <a:rPr lang="en-US" sz="1800">
                <a:solidFill>
                  <a:schemeClr val="dk1"/>
                </a:solidFill>
                <a:latin typeface="Inter"/>
                <a:ea typeface="Inter"/>
                <a:cs typeface="Inter"/>
                <a:sym typeface="Inter"/>
              </a:rPr>
              <a:t> isn’t organized great to begin with and has a lot of NULL within the </a:t>
            </a:r>
            <a:r>
              <a:rPr i="0" lang="en-US" sz="1800" u="none" cap="none" strike="noStrike">
                <a:solidFill>
                  <a:schemeClr val="dk1"/>
                </a:solidFill>
                <a:latin typeface="Inter"/>
                <a:ea typeface="Inter"/>
                <a:cs typeface="Inter"/>
                <a:sym typeface="Inter"/>
              </a:rPr>
              <a:t> database</a:t>
            </a:r>
            <a:r>
              <a:rPr lang="en-US" sz="1800">
                <a:solidFill>
                  <a:schemeClr val="dk1"/>
                </a:solidFill>
                <a:latin typeface="Inter"/>
                <a:ea typeface="Inter"/>
                <a:cs typeface="Inter"/>
                <a:sym typeface="Inter"/>
              </a:rPr>
              <a:t>. It needs to be more efficient so we can </a:t>
            </a:r>
            <a:r>
              <a:rPr i="0" lang="en-US" sz="1800" u="none" cap="none" strike="noStrike">
                <a:solidFill>
                  <a:schemeClr val="dk1"/>
                </a:solidFill>
                <a:latin typeface="Inter"/>
                <a:ea typeface="Inter"/>
                <a:cs typeface="Inter"/>
                <a:sym typeface="Inter"/>
              </a:rPr>
              <a:t>ensure data reliability</a:t>
            </a:r>
            <a:r>
              <a:rPr lang="en-US" sz="1800">
                <a:solidFill>
                  <a:schemeClr val="dk1"/>
                </a:solidFill>
                <a:latin typeface="Inter"/>
                <a:ea typeface="Inter"/>
                <a:cs typeface="Inter"/>
                <a:sym typeface="Inter"/>
              </a:rPr>
              <a:t> and data governance. This is especially needed as many improving sales data and </a:t>
            </a:r>
            <a:r>
              <a:rPr lang="en-US" sz="1800">
                <a:solidFill>
                  <a:schemeClr val="dk1"/>
                </a:solidFill>
                <a:latin typeface="Inter"/>
                <a:ea typeface="Inter"/>
                <a:cs typeface="Inter"/>
                <a:sym typeface="Inter"/>
              </a:rPr>
              <a:t>auditing</a:t>
            </a:r>
            <a:r>
              <a:rPr lang="en-US" sz="1800">
                <a:solidFill>
                  <a:schemeClr val="dk1"/>
                </a:solidFill>
                <a:latin typeface="Inter"/>
                <a:ea typeface="Inter"/>
                <a:cs typeface="Inter"/>
                <a:sym typeface="Inter"/>
              </a:rPr>
              <a:t> for </a:t>
            </a:r>
            <a:r>
              <a:rPr lang="en-US" sz="1800">
                <a:solidFill>
                  <a:schemeClr val="dk1"/>
                </a:solidFill>
                <a:latin typeface="Inter"/>
                <a:ea typeface="Inter"/>
                <a:cs typeface="Inter"/>
                <a:sym typeface="Inter"/>
              </a:rPr>
              <a:t>something</a:t>
            </a:r>
            <a:r>
              <a:rPr lang="en-US" sz="1800">
                <a:solidFill>
                  <a:schemeClr val="dk1"/>
                </a:solidFill>
                <a:latin typeface="Inter"/>
                <a:ea typeface="Inter"/>
                <a:cs typeface="Inter"/>
                <a:sym typeface="Inter"/>
              </a:rPr>
              <a:t> like buying a car is needed to make sure transactions and sales are kept in order and on time. </a:t>
            </a:r>
            <a:endParaRPr>
              <a:solidFill>
                <a:schemeClr val="dk1"/>
              </a:solidFill>
            </a:endParaRPr>
          </a:p>
        </p:txBody>
      </p:sp>
      <p:grpSp>
        <p:nvGrpSpPr>
          <p:cNvPr id="96" name="Google Shape;96;p14"/>
          <p:cNvGrpSpPr/>
          <p:nvPr/>
        </p:nvGrpSpPr>
        <p:grpSpPr>
          <a:xfrm>
            <a:off x="662325" y="1637425"/>
            <a:ext cx="11098150" cy="2873541"/>
            <a:chOff x="628650" y="1948675"/>
            <a:chExt cx="11098150" cy="2873541"/>
          </a:xfrm>
        </p:grpSpPr>
        <p:sp>
          <p:nvSpPr>
            <p:cNvPr id="97" name="Google Shape;97;p14"/>
            <p:cNvSpPr txBox="1"/>
            <p:nvPr/>
          </p:nvSpPr>
          <p:spPr>
            <a:xfrm>
              <a:off x="762150" y="2329516"/>
              <a:ext cx="5048400" cy="2492700"/>
            </a:xfrm>
            <a:prstGeom prst="rect">
              <a:avLst/>
            </a:prstGeom>
            <a:noFill/>
            <a:ln>
              <a:noFill/>
            </a:ln>
          </p:spPr>
          <p:txBody>
            <a:bodyPr anchorCtr="0" anchor="t" bIns="0" lIns="133350" spcFirstLastPara="1" rIns="0" wrap="square" tIns="0">
              <a:spAutoFit/>
            </a:bodyPr>
            <a:lstStyle/>
            <a:p>
              <a:pPr indent="-342900" lvl="0" marL="457200" marR="0" rtl="0" algn="l">
                <a:lnSpc>
                  <a:spcPct val="159944"/>
                </a:lnSpc>
                <a:spcBef>
                  <a:spcPts val="0"/>
                </a:spcBef>
                <a:spcAft>
                  <a:spcPts val="0"/>
                </a:spcAft>
                <a:buClr>
                  <a:schemeClr val="dk1"/>
                </a:buClr>
                <a:buSzPts val="1800"/>
                <a:buFont typeface="Inter"/>
                <a:buChar char="●"/>
              </a:pPr>
              <a:r>
                <a:rPr lang="en-US" sz="1800" u="none" cap="none" strike="noStrike">
                  <a:solidFill>
                    <a:schemeClr val="dk1"/>
                  </a:solidFill>
                  <a:latin typeface="Inter"/>
                  <a:ea typeface="Inter"/>
                  <a:cs typeface="Inter"/>
                  <a:sym typeface="Inter"/>
                </a:rPr>
                <a:t>NULLs cause ambiguous query results.</a:t>
              </a:r>
              <a:endParaRPr sz="1800" u="none" cap="none" strike="noStrike">
                <a:solidFill>
                  <a:schemeClr val="dk1"/>
                </a:solidFill>
                <a:latin typeface="Inter"/>
                <a:ea typeface="Inter"/>
                <a:cs typeface="Inter"/>
                <a:sym typeface="Inter"/>
              </a:endParaRPr>
            </a:p>
            <a:p>
              <a:pPr indent="-342900" lvl="0" marL="457200" rtl="0" algn="l">
                <a:lnSpc>
                  <a:spcPct val="159944"/>
                </a:lnSpc>
                <a:spcBef>
                  <a:spcPts val="0"/>
                </a:spcBef>
                <a:spcAft>
                  <a:spcPts val="0"/>
                </a:spcAft>
                <a:buClr>
                  <a:schemeClr val="dk1"/>
                </a:buClr>
                <a:buSzPts val="1800"/>
                <a:buFont typeface="Inter"/>
                <a:buChar char="●"/>
              </a:pPr>
              <a:r>
                <a:rPr lang="en-US" sz="1800">
                  <a:solidFill>
                    <a:schemeClr val="dk1"/>
                  </a:solidFill>
                  <a:latin typeface="Inter"/>
                  <a:ea typeface="Inter"/>
                  <a:cs typeface="Inter"/>
                  <a:sym typeface="Inter"/>
                </a:rPr>
                <a:t>They break logical comparisons (Lets say  NULL = NULL is not True).</a:t>
              </a:r>
              <a:endParaRPr sz="1800">
                <a:solidFill>
                  <a:schemeClr val="dk1"/>
                </a:solidFill>
                <a:latin typeface="Inter"/>
                <a:ea typeface="Inter"/>
                <a:cs typeface="Inter"/>
                <a:sym typeface="Inter"/>
              </a:endParaRPr>
            </a:p>
            <a:p>
              <a:pPr indent="-342900" lvl="0" marL="457200" rtl="0" algn="l">
                <a:lnSpc>
                  <a:spcPct val="159944"/>
                </a:lnSpc>
                <a:spcBef>
                  <a:spcPts val="0"/>
                </a:spcBef>
                <a:spcAft>
                  <a:spcPts val="0"/>
                </a:spcAft>
                <a:buClr>
                  <a:schemeClr val="dk1"/>
                </a:buClr>
                <a:buSzPts val="1800"/>
                <a:buFont typeface="Inter"/>
                <a:buChar char="●"/>
              </a:pPr>
              <a:r>
                <a:rPr lang="en-US" sz="1800">
                  <a:solidFill>
                    <a:schemeClr val="dk1"/>
                  </a:solidFill>
                  <a:latin typeface="Inter"/>
                  <a:ea typeface="Inter"/>
                  <a:cs typeface="Inter"/>
                  <a:sym typeface="Inter"/>
                </a:rPr>
                <a:t>They can be unpredictable and non-deterministic. Not great for consistency</a:t>
              </a:r>
              <a:endParaRPr sz="1800">
                <a:solidFill>
                  <a:schemeClr val="dk1"/>
                </a:solidFill>
                <a:latin typeface="Inter"/>
                <a:ea typeface="Inter"/>
                <a:cs typeface="Inter"/>
                <a:sym typeface="Inter"/>
              </a:endParaRPr>
            </a:p>
          </p:txBody>
        </p:sp>
        <p:sp>
          <p:nvSpPr>
            <p:cNvPr id="98" name="Google Shape;98;p14"/>
            <p:cNvSpPr txBox="1"/>
            <p:nvPr/>
          </p:nvSpPr>
          <p:spPr>
            <a:xfrm>
              <a:off x="628650" y="2860442"/>
              <a:ext cx="133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solidFill>
                  <a:schemeClr val="dk1"/>
                </a:solidFill>
              </a:endParaRPr>
            </a:p>
          </p:txBody>
        </p:sp>
        <p:sp>
          <p:nvSpPr>
            <p:cNvPr id="99" name="Google Shape;99;p14"/>
            <p:cNvSpPr txBox="1"/>
            <p:nvPr/>
          </p:nvSpPr>
          <p:spPr>
            <a:xfrm>
              <a:off x="3646300" y="1948675"/>
              <a:ext cx="8080500" cy="277200"/>
            </a:xfrm>
            <a:prstGeom prst="rect">
              <a:avLst/>
            </a:prstGeom>
            <a:noFill/>
            <a:ln>
              <a:noFill/>
            </a:ln>
          </p:spPr>
          <p:txBody>
            <a:bodyPr anchorCtr="0" anchor="t" bIns="0" lIns="133350" spcFirstLastPara="1" rIns="0" wrap="square" tIns="0">
              <a:spAutoFit/>
            </a:bodyPr>
            <a:lstStyle/>
            <a:p>
              <a:pPr indent="0" lvl="0" marL="0" marR="0" rtl="0" algn="l">
                <a:lnSpc>
                  <a:spcPct val="159944"/>
                </a:lnSpc>
                <a:spcBef>
                  <a:spcPts val="0"/>
                </a:spcBef>
                <a:spcAft>
                  <a:spcPts val="0"/>
                </a:spcAft>
                <a:buNone/>
              </a:pPr>
              <a:r>
                <a:rPr lang="en-US" sz="1800" u="none" cap="none" strike="noStrike">
                  <a:solidFill>
                    <a:schemeClr val="dk1"/>
                  </a:solidFill>
                  <a:latin typeface="Inter"/>
                  <a:ea typeface="Inter"/>
                  <a:cs typeface="Inter"/>
                  <a:sym typeface="Inter"/>
                </a:rPr>
                <a:t>.</a:t>
              </a:r>
              <a:endParaRPr>
                <a:solidFill>
                  <a:schemeClr val="dk1"/>
                </a:solidFill>
              </a:endParaRPr>
            </a:p>
          </p:txBody>
        </p:sp>
        <p:sp>
          <p:nvSpPr>
            <p:cNvPr id="100" name="Google Shape;100;p14"/>
            <p:cNvSpPr txBox="1"/>
            <p:nvPr/>
          </p:nvSpPr>
          <p:spPr>
            <a:xfrm>
              <a:off x="628650" y="4287708"/>
              <a:ext cx="1335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solidFill>
                  <a:schemeClr val="dk1"/>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04" name="Shape 104"/>
        <p:cNvGrpSpPr/>
        <p:nvPr/>
      </p:nvGrpSpPr>
      <p:grpSpPr>
        <a:xfrm>
          <a:off x="0" y="0"/>
          <a:ext cx="0" cy="0"/>
          <a:chOff x="0" y="0"/>
          <a:chExt cx="0" cy="0"/>
        </a:xfrm>
      </p:grpSpPr>
      <p:sp>
        <p:nvSpPr>
          <p:cNvPr id="105" name="Google Shape;105;p1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1: Reorganize our tables</a:t>
            </a:r>
            <a:endParaRPr>
              <a:solidFill>
                <a:schemeClr val="accent2"/>
              </a:solidFill>
            </a:endParaRPr>
          </a:p>
        </p:txBody>
      </p:sp>
      <p:sp>
        <p:nvSpPr>
          <p:cNvPr id="106" name="Google Shape;106;p15"/>
          <p:cNvSpPr txBox="1"/>
          <p:nvPr/>
        </p:nvSpPr>
        <p:spPr>
          <a:xfrm>
            <a:off x="510325" y="1833125"/>
            <a:ext cx="5976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It is best to move around our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tables to a more fitting schema. </a:t>
            </a:r>
            <a:endParaRPr sz="3200">
              <a:solidFill>
                <a:schemeClr val="dk1"/>
              </a:solidFill>
              <a:latin typeface="Calibri"/>
              <a:ea typeface="Calibri"/>
              <a:cs typeface="Calibri"/>
              <a:sym typeface="Calibri"/>
            </a:endParaRPr>
          </a:p>
        </p:txBody>
      </p:sp>
      <p:pic>
        <p:nvPicPr>
          <p:cNvPr id="107" name="Google Shape;107;p15"/>
          <p:cNvPicPr preferRelativeResize="0"/>
          <p:nvPr/>
        </p:nvPicPr>
        <p:blipFill>
          <a:blip r:embed="rId3">
            <a:alphaModFix/>
          </a:blip>
          <a:stretch>
            <a:fillRect/>
          </a:stretch>
        </p:blipFill>
        <p:spPr>
          <a:xfrm>
            <a:off x="6087225" y="1600200"/>
            <a:ext cx="5038725" cy="321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11" name="Shape 111"/>
        <p:cNvGrpSpPr/>
        <p:nvPr/>
      </p:nvGrpSpPr>
      <p:grpSpPr>
        <a:xfrm>
          <a:off x="0" y="0"/>
          <a:ext cx="0" cy="0"/>
          <a:chOff x="0" y="0"/>
          <a:chExt cx="0" cy="0"/>
        </a:xfrm>
      </p:grpSpPr>
      <p:sp>
        <p:nvSpPr>
          <p:cNvPr id="112" name="Google Shape;112;p16"/>
          <p:cNvSpPr txBox="1"/>
          <p:nvPr/>
        </p:nvSpPr>
        <p:spPr>
          <a:xfrm>
            <a:off x="1691675" y="1199375"/>
            <a:ext cx="5976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BEFORE							AFTER</a:t>
            </a:r>
            <a:endParaRPr sz="3200">
              <a:solidFill>
                <a:schemeClr val="dk1"/>
              </a:solidFill>
              <a:latin typeface="Calibri"/>
              <a:ea typeface="Calibri"/>
              <a:cs typeface="Calibri"/>
              <a:sym typeface="Calibri"/>
            </a:endParaRPr>
          </a:p>
        </p:txBody>
      </p:sp>
      <p:sp>
        <p:nvSpPr>
          <p:cNvPr id="113" name="Google Shape;113;p16"/>
          <p:cNvSpPr txBox="1"/>
          <p:nvPr/>
        </p:nvSpPr>
        <p:spPr>
          <a:xfrm>
            <a:off x="0" y="0"/>
            <a:ext cx="9010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chemeClr val="accent2"/>
                </a:solidFill>
                <a:latin typeface="Inter"/>
                <a:ea typeface="Inter"/>
                <a:cs typeface="Inter"/>
                <a:sym typeface="Inter"/>
              </a:rPr>
              <a:t>PART 1: Reorganize our tables</a:t>
            </a:r>
            <a:endParaRPr>
              <a:solidFill>
                <a:schemeClr val="accent2"/>
              </a:solidFill>
            </a:endParaRPr>
          </a:p>
        </p:txBody>
      </p:sp>
      <p:pic>
        <p:nvPicPr>
          <p:cNvPr id="114" name="Google Shape;114;p16"/>
          <p:cNvPicPr preferRelativeResize="0"/>
          <p:nvPr/>
        </p:nvPicPr>
        <p:blipFill>
          <a:blip r:embed="rId3">
            <a:alphaModFix/>
          </a:blip>
          <a:stretch>
            <a:fillRect/>
          </a:stretch>
        </p:blipFill>
        <p:spPr>
          <a:xfrm>
            <a:off x="1353700" y="2304675"/>
            <a:ext cx="2428875" cy="4162425"/>
          </a:xfrm>
          <a:prstGeom prst="rect">
            <a:avLst/>
          </a:prstGeom>
          <a:noFill/>
          <a:ln>
            <a:noFill/>
          </a:ln>
        </p:spPr>
      </p:pic>
      <p:pic>
        <p:nvPicPr>
          <p:cNvPr id="115" name="Google Shape;115;p16"/>
          <p:cNvPicPr preferRelativeResize="0"/>
          <p:nvPr/>
        </p:nvPicPr>
        <p:blipFill>
          <a:blip r:embed="rId4">
            <a:alphaModFix/>
          </a:blip>
          <a:stretch>
            <a:fillRect/>
          </a:stretch>
        </p:blipFill>
        <p:spPr>
          <a:xfrm>
            <a:off x="5317625" y="2369075"/>
            <a:ext cx="2486025" cy="4105275"/>
          </a:xfrm>
          <a:prstGeom prst="rect">
            <a:avLst/>
          </a:prstGeom>
          <a:noFill/>
          <a:ln>
            <a:noFill/>
          </a:ln>
        </p:spPr>
      </p:pic>
      <p:sp>
        <p:nvSpPr>
          <p:cNvPr id="116" name="Google Shape;116;p16"/>
          <p:cNvSpPr txBox="1"/>
          <p:nvPr/>
        </p:nvSpPr>
        <p:spPr>
          <a:xfrm>
            <a:off x="7980225" y="582175"/>
            <a:ext cx="3903900" cy="406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Putting our old tables into new schemas(Reference, Customer, Production, Sales, Reports), allows for better organization and practicality. If everything is in one place, it's hard to find what you need, and mistakes in one area could accidentally affect another table with a foreign key. By creating separations like this,  you make the database easier to understand, manage, and secure.</a:t>
            </a:r>
            <a:endParaRPr sz="21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0" name="Shape 120"/>
        <p:cNvGrpSpPr/>
        <p:nvPr/>
      </p:nvGrpSpPr>
      <p:grpSpPr>
        <a:xfrm>
          <a:off x="0" y="0"/>
          <a:ext cx="0" cy="0"/>
          <a:chOff x="0" y="0"/>
          <a:chExt cx="0" cy="0"/>
        </a:xfrm>
      </p:grpSpPr>
      <p:sp>
        <p:nvSpPr>
          <p:cNvPr id="121" name="Google Shape;121;p17"/>
          <p:cNvSpPr txBox="1"/>
          <p:nvPr/>
        </p:nvSpPr>
        <p:spPr>
          <a:xfrm>
            <a:off x="2971925" y="533750"/>
            <a:ext cx="4800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a:t>
            </a:r>
            <a:r>
              <a:rPr b="1" lang="en-US" sz="3600" u="sng">
                <a:solidFill>
                  <a:schemeClr val="accent2"/>
                </a:solidFill>
                <a:latin typeface="Inter"/>
                <a:ea typeface="Inter"/>
                <a:cs typeface="Inter"/>
                <a:sym typeface="Inter"/>
              </a:rPr>
              <a:t>Constraints</a:t>
            </a:r>
            <a:endParaRPr u="sng">
              <a:solidFill>
                <a:schemeClr val="accent2"/>
              </a:solidFill>
            </a:endParaRPr>
          </a:p>
        </p:txBody>
      </p:sp>
      <p:sp>
        <p:nvSpPr>
          <p:cNvPr id="122" name="Google Shape;122;p17"/>
          <p:cNvSpPr txBox="1"/>
          <p:nvPr/>
        </p:nvSpPr>
        <p:spPr>
          <a:xfrm>
            <a:off x="762000" y="2266950"/>
            <a:ext cx="480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8FAFC"/>
                </a:solidFill>
                <a:latin typeface="Inter"/>
                <a:ea typeface="Inter"/>
                <a:cs typeface="Inter"/>
                <a:sym typeface="Inter"/>
              </a:rPr>
              <a:t>The Gatekeepers</a:t>
            </a:r>
            <a:endParaRPr/>
          </a:p>
        </p:txBody>
      </p:sp>
      <p:sp>
        <p:nvSpPr>
          <p:cNvPr id="123" name="Google Shape;123;p17"/>
          <p:cNvSpPr txBox="1"/>
          <p:nvPr/>
        </p:nvSpPr>
        <p:spPr>
          <a:xfrm>
            <a:off x="282275" y="1824050"/>
            <a:ext cx="9237300" cy="42654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rPr lang="en-US" sz="1800">
                <a:latin typeface="Inter"/>
                <a:ea typeface="Inter"/>
                <a:cs typeface="Inter"/>
                <a:sym typeface="Inter"/>
              </a:rPr>
              <a:t>We implemented constraints to replace problematic inputs such as NULL and maintain proper and well regulated practices for our db. They are set we don’t have anything, invalid, inconsistent or anything </a:t>
            </a:r>
            <a:r>
              <a:rPr lang="en-US" sz="1800">
                <a:latin typeface="Inter"/>
                <a:ea typeface="Inter"/>
                <a:cs typeface="Inter"/>
                <a:sym typeface="Inter"/>
              </a:rPr>
              <a:t>repeated in our database, so everything runs smoothly.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p:txBody>
      </p:sp>
      <p:sp>
        <p:nvSpPr>
          <p:cNvPr id="124" name="Google Shape;124;p17"/>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28" name="Shape 128"/>
        <p:cNvGrpSpPr/>
        <p:nvPr/>
      </p:nvGrpSpPr>
      <p:grpSpPr>
        <a:xfrm>
          <a:off x="0" y="0"/>
          <a:ext cx="0" cy="0"/>
          <a:chOff x="0" y="0"/>
          <a:chExt cx="0" cy="0"/>
        </a:xfrm>
      </p:grpSpPr>
      <p:sp>
        <p:nvSpPr>
          <p:cNvPr id="129" name="Google Shape;129;p18"/>
          <p:cNvSpPr txBox="1"/>
          <p:nvPr/>
        </p:nvSpPr>
        <p:spPr>
          <a:xfrm>
            <a:off x="2971925" y="533750"/>
            <a:ext cx="48006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600" u="sng">
                <a:solidFill>
                  <a:schemeClr val="accent2"/>
                </a:solidFill>
                <a:latin typeface="Inter"/>
                <a:ea typeface="Inter"/>
                <a:cs typeface="Inter"/>
                <a:sym typeface="Inter"/>
              </a:rPr>
              <a:t>Part 2a:Constraints for our PK and FK</a:t>
            </a:r>
            <a:endParaRPr u="sng">
              <a:solidFill>
                <a:schemeClr val="accent2"/>
              </a:solidFill>
            </a:endParaRPr>
          </a:p>
        </p:txBody>
      </p:sp>
      <p:sp>
        <p:nvSpPr>
          <p:cNvPr id="130" name="Google Shape;130;p18"/>
          <p:cNvSpPr txBox="1"/>
          <p:nvPr/>
        </p:nvSpPr>
        <p:spPr>
          <a:xfrm>
            <a:off x="762000" y="2266950"/>
            <a:ext cx="480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8FAFC"/>
                </a:solidFill>
                <a:latin typeface="Inter"/>
                <a:ea typeface="Inter"/>
                <a:cs typeface="Inter"/>
                <a:sym typeface="Inter"/>
              </a:rPr>
              <a:t>The Gatekeepers</a:t>
            </a:r>
            <a:endParaRPr/>
          </a:p>
        </p:txBody>
      </p:sp>
      <p:sp>
        <p:nvSpPr>
          <p:cNvPr id="131" name="Google Shape;131;p18"/>
          <p:cNvSpPr txBox="1"/>
          <p:nvPr/>
        </p:nvSpPr>
        <p:spPr>
          <a:xfrm>
            <a:off x="282275" y="1824050"/>
            <a:ext cx="5219400" cy="3379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p:txBody>
      </p:sp>
      <p:sp>
        <p:nvSpPr>
          <p:cNvPr id="132" name="Google Shape;132;p18"/>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33" name="Google Shape;133;p18"/>
          <p:cNvSpPr txBox="1"/>
          <p:nvPr/>
        </p:nvSpPr>
        <p:spPr>
          <a:xfrm>
            <a:off x="1584000" y="1620450"/>
            <a:ext cx="9813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900">
                <a:solidFill>
                  <a:schemeClr val="dk1"/>
                </a:solidFill>
                <a:latin typeface="Calibri"/>
                <a:ea typeface="Calibri"/>
                <a:cs typeface="Calibri"/>
                <a:sym typeface="Calibri"/>
              </a:rPr>
              <a:t>Here we will take our Primary keys and </a:t>
            </a:r>
            <a:r>
              <a:rPr lang="en-US" sz="1900">
                <a:solidFill>
                  <a:schemeClr val="dk1"/>
                </a:solidFill>
                <a:latin typeface="Calibri"/>
                <a:ea typeface="Calibri"/>
                <a:cs typeface="Calibri"/>
                <a:sym typeface="Calibri"/>
              </a:rPr>
              <a:t>foreign</a:t>
            </a:r>
            <a:r>
              <a:rPr lang="en-US" sz="1900">
                <a:solidFill>
                  <a:schemeClr val="dk1"/>
                </a:solidFill>
                <a:latin typeface="Calibri"/>
                <a:ea typeface="Calibri"/>
                <a:cs typeface="Calibri"/>
                <a:sym typeface="Calibri"/>
              </a:rPr>
              <a:t> keys and simply add constraints to establish our relationships with out tables.</a:t>
            </a:r>
            <a:endParaRPr sz="1900">
              <a:solidFill>
                <a:schemeClr val="dk1"/>
              </a:solidFill>
              <a:latin typeface="Calibri"/>
              <a:ea typeface="Calibri"/>
              <a:cs typeface="Calibri"/>
              <a:sym typeface="Calibri"/>
            </a:endParaRPr>
          </a:p>
        </p:txBody>
      </p:sp>
      <p:pic>
        <p:nvPicPr>
          <p:cNvPr id="134" name="Google Shape;134;p18"/>
          <p:cNvPicPr preferRelativeResize="0"/>
          <p:nvPr/>
        </p:nvPicPr>
        <p:blipFill>
          <a:blip r:embed="rId3">
            <a:alphaModFix/>
          </a:blip>
          <a:stretch>
            <a:fillRect/>
          </a:stretch>
        </p:blipFill>
        <p:spPr>
          <a:xfrm>
            <a:off x="1235400" y="3025400"/>
            <a:ext cx="4327199" cy="3610267"/>
          </a:xfrm>
          <a:prstGeom prst="rect">
            <a:avLst/>
          </a:prstGeom>
          <a:noFill/>
          <a:ln>
            <a:noFill/>
          </a:ln>
        </p:spPr>
      </p:pic>
      <p:pic>
        <p:nvPicPr>
          <p:cNvPr id="135" name="Google Shape;135;p18"/>
          <p:cNvPicPr preferRelativeResize="0"/>
          <p:nvPr/>
        </p:nvPicPr>
        <p:blipFill>
          <a:blip r:embed="rId4">
            <a:alphaModFix/>
          </a:blip>
          <a:stretch>
            <a:fillRect/>
          </a:stretch>
        </p:blipFill>
        <p:spPr>
          <a:xfrm>
            <a:off x="6623000" y="2636250"/>
            <a:ext cx="4327200" cy="4150939"/>
          </a:xfrm>
          <a:prstGeom prst="rect">
            <a:avLst/>
          </a:prstGeom>
          <a:noFill/>
          <a:ln>
            <a:noFill/>
          </a:ln>
        </p:spPr>
      </p:pic>
      <p:sp>
        <p:nvSpPr>
          <p:cNvPr id="136" name="Google Shape;136;p18"/>
          <p:cNvSpPr txBox="1"/>
          <p:nvPr/>
        </p:nvSpPr>
        <p:spPr>
          <a:xfrm>
            <a:off x="2495550" y="2314325"/>
            <a:ext cx="5976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PRIMARY KEY(PK)</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37" name="Google Shape;137;p18"/>
          <p:cNvSpPr txBox="1"/>
          <p:nvPr/>
        </p:nvSpPr>
        <p:spPr>
          <a:xfrm>
            <a:off x="9417050" y="3025400"/>
            <a:ext cx="2920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FOREIGN KEY(FK)</a:t>
            </a:r>
            <a:endParaRPr sz="3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41" name="Shape 141"/>
        <p:cNvGrpSpPr/>
        <p:nvPr/>
      </p:nvGrpSpPr>
      <p:grpSpPr>
        <a:xfrm>
          <a:off x="0" y="0"/>
          <a:ext cx="0" cy="0"/>
          <a:chOff x="0" y="0"/>
          <a:chExt cx="0" cy="0"/>
        </a:xfrm>
      </p:grpSpPr>
      <p:sp>
        <p:nvSpPr>
          <p:cNvPr id="142" name="Google Shape;142;p19"/>
          <p:cNvSpPr txBox="1"/>
          <p:nvPr/>
        </p:nvSpPr>
        <p:spPr>
          <a:xfrm>
            <a:off x="2971925" y="533750"/>
            <a:ext cx="48006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2b: </a:t>
            </a:r>
            <a:r>
              <a:rPr b="1" lang="en-US" sz="3600" u="sng">
                <a:solidFill>
                  <a:schemeClr val="accent2"/>
                </a:solidFill>
                <a:latin typeface="Inter"/>
                <a:ea typeface="Inter"/>
                <a:cs typeface="Inter"/>
                <a:sym typeface="Inter"/>
              </a:rPr>
              <a:t>Null Constraints</a:t>
            </a:r>
            <a:endParaRPr u="sng">
              <a:solidFill>
                <a:schemeClr val="accent2"/>
              </a:solidFill>
            </a:endParaRPr>
          </a:p>
        </p:txBody>
      </p:sp>
      <p:sp>
        <p:nvSpPr>
          <p:cNvPr id="143" name="Google Shape;143;p19"/>
          <p:cNvSpPr txBox="1"/>
          <p:nvPr/>
        </p:nvSpPr>
        <p:spPr>
          <a:xfrm>
            <a:off x="762000" y="2266950"/>
            <a:ext cx="480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8FAFC"/>
                </a:solidFill>
                <a:latin typeface="Inter"/>
                <a:ea typeface="Inter"/>
                <a:cs typeface="Inter"/>
                <a:sym typeface="Inter"/>
              </a:rPr>
              <a:t>The Gatekeepers</a:t>
            </a:r>
            <a:endParaRPr/>
          </a:p>
        </p:txBody>
      </p:sp>
      <p:sp>
        <p:nvSpPr>
          <p:cNvPr id="144" name="Google Shape;144;p19"/>
          <p:cNvSpPr txBox="1"/>
          <p:nvPr/>
        </p:nvSpPr>
        <p:spPr>
          <a:xfrm>
            <a:off x="282275" y="1824050"/>
            <a:ext cx="5219400" cy="3379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p:txBody>
      </p:sp>
      <p:sp>
        <p:nvSpPr>
          <p:cNvPr id="145" name="Google Shape;145;p19"/>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46" name="Google Shape;146;p19"/>
          <p:cNvSpPr txBox="1"/>
          <p:nvPr/>
        </p:nvSpPr>
        <p:spPr>
          <a:xfrm>
            <a:off x="569450" y="1641950"/>
            <a:ext cx="5976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First </a:t>
            </a:r>
            <a:r>
              <a:rPr lang="en-US" sz="3200">
                <a:solidFill>
                  <a:schemeClr val="dk1"/>
                </a:solidFill>
                <a:latin typeface="Calibri"/>
                <a:ea typeface="Calibri"/>
                <a:cs typeface="Calibri"/>
                <a:sym typeface="Calibri"/>
              </a:rPr>
              <a:t>let's</a:t>
            </a:r>
            <a:r>
              <a:rPr lang="en-US" sz="3200">
                <a:solidFill>
                  <a:schemeClr val="dk1"/>
                </a:solidFill>
                <a:latin typeface="Calibri"/>
                <a:ea typeface="Calibri"/>
                <a:cs typeface="Calibri"/>
                <a:sym typeface="Calibri"/>
              </a:rPr>
              <a:t> get rid of some of our nulls</a:t>
            </a:r>
            <a:endParaRPr sz="3200">
              <a:solidFill>
                <a:schemeClr val="dk1"/>
              </a:solidFill>
              <a:latin typeface="Calibri"/>
              <a:ea typeface="Calibri"/>
              <a:cs typeface="Calibri"/>
              <a:sym typeface="Calibri"/>
            </a:endParaRPr>
          </a:p>
        </p:txBody>
      </p:sp>
      <p:pic>
        <p:nvPicPr>
          <p:cNvPr id="147" name="Google Shape;147;p19"/>
          <p:cNvPicPr preferRelativeResize="0"/>
          <p:nvPr/>
        </p:nvPicPr>
        <p:blipFill>
          <a:blip r:embed="rId3">
            <a:alphaModFix/>
          </a:blip>
          <a:stretch>
            <a:fillRect/>
          </a:stretch>
        </p:blipFill>
        <p:spPr>
          <a:xfrm>
            <a:off x="7177925" y="2144425"/>
            <a:ext cx="4067175" cy="4495800"/>
          </a:xfrm>
          <a:prstGeom prst="rect">
            <a:avLst/>
          </a:prstGeom>
          <a:noFill/>
          <a:ln>
            <a:noFill/>
          </a:ln>
        </p:spPr>
      </p:pic>
      <p:sp>
        <p:nvSpPr>
          <p:cNvPr id="148" name="Google Shape;148;p19"/>
          <p:cNvSpPr txBox="1"/>
          <p:nvPr/>
        </p:nvSpPr>
        <p:spPr>
          <a:xfrm>
            <a:off x="6924975" y="780025"/>
            <a:ext cx="47775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3200">
                <a:solidFill>
                  <a:schemeClr val="dk1"/>
                </a:solidFill>
                <a:latin typeface="Calibri"/>
                <a:ea typeface="Calibri"/>
                <a:cs typeface="Calibri"/>
                <a:sym typeface="Calibri"/>
              </a:rPr>
              <a:t>Then our Null(Not Null in this case)Constraint</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149" name="Google Shape;149;p19"/>
          <p:cNvPicPr preferRelativeResize="0"/>
          <p:nvPr/>
        </p:nvPicPr>
        <p:blipFill>
          <a:blip r:embed="rId4">
            <a:alphaModFix/>
          </a:blip>
          <a:stretch>
            <a:fillRect/>
          </a:stretch>
        </p:blipFill>
        <p:spPr>
          <a:xfrm>
            <a:off x="1172625" y="3261250"/>
            <a:ext cx="4438650" cy="300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53" name="Shape 153"/>
        <p:cNvGrpSpPr/>
        <p:nvPr/>
      </p:nvGrpSpPr>
      <p:grpSpPr>
        <a:xfrm>
          <a:off x="0" y="0"/>
          <a:ext cx="0" cy="0"/>
          <a:chOff x="0" y="0"/>
          <a:chExt cx="0" cy="0"/>
        </a:xfrm>
      </p:grpSpPr>
      <p:sp>
        <p:nvSpPr>
          <p:cNvPr id="154" name="Google Shape;154;p20"/>
          <p:cNvSpPr txBox="1"/>
          <p:nvPr/>
        </p:nvSpPr>
        <p:spPr>
          <a:xfrm>
            <a:off x="2971925" y="533750"/>
            <a:ext cx="48006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a:t>
            </a:r>
            <a:r>
              <a:rPr b="1" lang="en-US" sz="3600" u="sng">
                <a:solidFill>
                  <a:schemeClr val="accent2"/>
                </a:solidFill>
                <a:latin typeface="Inter"/>
                <a:ea typeface="Inter"/>
                <a:cs typeface="Inter"/>
                <a:sym typeface="Inter"/>
              </a:rPr>
              <a:t>b</a:t>
            </a:r>
            <a:r>
              <a:rPr b="1" i="0" lang="en-US" sz="3600" u="sng" cap="none" strike="noStrike">
                <a:solidFill>
                  <a:schemeClr val="accent2"/>
                </a:solidFill>
                <a:latin typeface="Inter"/>
                <a:ea typeface="Inter"/>
                <a:cs typeface="Inter"/>
                <a:sym typeface="Inter"/>
              </a:rPr>
              <a:t>: </a:t>
            </a:r>
            <a:r>
              <a:rPr b="1" lang="en-US" sz="3600" u="sng">
                <a:solidFill>
                  <a:schemeClr val="accent2"/>
                </a:solidFill>
                <a:latin typeface="Inter"/>
                <a:ea typeface="Inter"/>
                <a:cs typeface="Inter"/>
                <a:sym typeface="Inter"/>
              </a:rPr>
              <a:t>Null Constraints</a:t>
            </a:r>
            <a:endParaRPr u="sng">
              <a:solidFill>
                <a:schemeClr val="accent2"/>
              </a:solidFill>
            </a:endParaRPr>
          </a:p>
        </p:txBody>
      </p:sp>
      <p:sp>
        <p:nvSpPr>
          <p:cNvPr id="155" name="Google Shape;155;p20"/>
          <p:cNvSpPr txBox="1"/>
          <p:nvPr/>
        </p:nvSpPr>
        <p:spPr>
          <a:xfrm>
            <a:off x="762000" y="2266950"/>
            <a:ext cx="480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8FAFC"/>
                </a:solidFill>
                <a:latin typeface="Inter"/>
                <a:ea typeface="Inter"/>
                <a:cs typeface="Inter"/>
                <a:sym typeface="Inter"/>
              </a:rPr>
              <a:t>The Gatekeepers</a:t>
            </a:r>
            <a:endParaRPr/>
          </a:p>
        </p:txBody>
      </p:sp>
      <p:sp>
        <p:nvSpPr>
          <p:cNvPr id="156" name="Google Shape;156;p20"/>
          <p:cNvSpPr txBox="1"/>
          <p:nvPr/>
        </p:nvSpPr>
        <p:spPr>
          <a:xfrm>
            <a:off x="282275" y="1824050"/>
            <a:ext cx="5219400" cy="3379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p:txBody>
      </p:sp>
      <p:sp>
        <p:nvSpPr>
          <p:cNvPr id="157" name="Google Shape;157;p20"/>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pic>
        <p:nvPicPr>
          <p:cNvPr id="158" name="Google Shape;158;p20"/>
          <p:cNvPicPr preferRelativeResize="0"/>
          <p:nvPr/>
        </p:nvPicPr>
        <p:blipFill>
          <a:blip r:embed="rId3">
            <a:alphaModFix/>
          </a:blip>
          <a:stretch>
            <a:fillRect/>
          </a:stretch>
        </p:blipFill>
        <p:spPr>
          <a:xfrm>
            <a:off x="687797" y="4687039"/>
            <a:ext cx="5686125" cy="2114450"/>
          </a:xfrm>
          <a:prstGeom prst="rect">
            <a:avLst/>
          </a:prstGeom>
          <a:noFill/>
          <a:ln>
            <a:noFill/>
          </a:ln>
        </p:spPr>
      </p:pic>
      <p:sp>
        <p:nvSpPr>
          <p:cNvPr id="159" name="Google Shape;159;p20"/>
          <p:cNvSpPr txBox="1"/>
          <p:nvPr/>
        </p:nvSpPr>
        <p:spPr>
          <a:xfrm>
            <a:off x="1691675" y="1199375"/>
            <a:ext cx="5976000" cy="363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BEFORE</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AFTER</a:t>
            </a:r>
            <a:endParaRPr sz="3200">
              <a:solidFill>
                <a:schemeClr val="dk1"/>
              </a:solidFill>
              <a:latin typeface="Calibri"/>
              <a:ea typeface="Calibri"/>
              <a:cs typeface="Calibri"/>
              <a:sym typeface="Calibri"/>
            </a:endParaRPr>
          </a:p>
        </p:txBody>
      </p:sp>
      <p:pic>
        <p:nvPicPr>
          <p:cNvPr id="160" name="Google Shape;160;p20"/>
          <p:cNvPicPr preferRelativeResize="0"/>
          <p:nvPr/>
        </p:nvPicPr>
        <p:blipFill>
          <a:blip r:embed="rId4">
            <a:alphaModFix/>
          </a:blip>
          <a:stretch>
            <a:fillRect/>
          </a:stretch>
        </p:blipFill>
        <p:spPr>
          <a:xfrm>
            <a:off x="282263" y="2266950"/>
            <a:ext cx="5972175" cy="2038350"/>
          </a:xfrm>
          <a:prstGeom prst="rect">
            <a:avLst/>
          </a:prstGeom>
          <a:noFill/>
          <a:ln>
            <a:noFill/>
          </a:ln>
        </p:spPr>
      </p:pic>
      <p:sp>
        <p:nvSpPr>
          <p:cNvPr id="161" name="Google Shape;161;p20"/>
          <p:cNvSpPr txBox="1"/>
          <p:nvPr/>
        </p:nvSpPr>
        <p:spPr>
          <a:xfrm>
            <a:off x="6603525" y="1487175"/>
            <a:ext cx="5463300" cy="364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500">
                <a:solidFill>
                  <a:schemeClr val="dk1"/>
                </a:solidFill>
                <a:latin typeface="Calibri"/>
                <a:ea typeface="Calibri"/>
                <a:cs typeface="Calibri"/>
                <a:sym typeface="Calibri"/>
              </a:rPr>
              <a:t>Our two modifications removes some of the NULLS and simply modifies the flag attributes so they aren’t labeled as all null. It is better to reduce the </a:t>
            </a:r>
            <a:r>
              <a:rPr lang="en-US" sz="2500">
                <a:solidFill>
                  <a:schemeClr val="dk1"/>
                </a:solidFill>
                <a:latin typeface="Calibri"/>
                <a:ea typeface="Calibri"/>
                <a:cs typeface="Calibri"/>
                <a:sym typeface="Calibri"/>
              </a:rPr>
              <a:t>amount of them for better governance as nulls can be tricky due to being non-deterministic.</a:t>
            </a:r>
            <a:endParaRPr sz="2500">
              <a:solidFill>
                <a:schemeClr val="dk1"/>
              </a:solidFill>
              <a:latin typeface="Calibri"/>
              <a:ea typeface="Calibri"/>
              <a:cs typeface="Calibri"/>
              <a:sym typeface="Calibri"/>
            </a:endParaRPr>
          </a:p>
          <a:p>
            <a:pPr indent="0" lvl="0" marL="0" rtl="0" algn="l">
              <a:spcBef>
                <a:spcPts val="0"/>
              </a:spcBef>
              <a:spcAft>
                <a:spcPts val="0"/>
              </a:spcAft>
              <a:buNone/>
            </a:pPr>
            <a:r>
              <a:t/>
            </a:r>
            <a:endParaRPr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We implemented this for customers and country table.  </a:t>
            </a:r>
            <a:endParaRPr sz="25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65" name="Shape 165"/>
        <p:cNvGrpSpPr/>
        <p:nvPr/>
      </p:nvGrpSpPr>
      <p:grpSpPr>
        <a:xfrm>
          <a:off x="0" y="0"/>
          <a:ext cx="0" cy="0"/>
          <a:chOff x="0" y="0"/>
          <a:chExt cx="0" cy="0"/>
        </a:xfrm>
      </p:grpSpPr>
      <p:sp>
        <p:nvSpPr>
          <p:cNvPr id="166" name="Google Shape;166;p21"/>
          <p:cNvSpPr txBox="1"/>
          <p:nvPr/>
        </p:nvSpPr>
        <p:spPr>
          <a:xfrm>
            <a:off x="2971925" y="533750"/>
            <a:ext cx="48006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2c: </a:t>
            </a:r>
            <a:r>
              <a:rPr b="1" lang="en-US" sz="3600" u="sng">
                <a:solidFill>
                  <a:schemeClr val="accent2"/>
                </a:solidFill>
                <a:latin typeface="Inter"/>
                <a:ea typeface="Inter"/>
                <a:cs typeface="Inter"/>
                <a:sym typeface="Inter"/>
              </a:rPr>
              <a:t>Unique Constraints</a:t>
            </a:r>
            <a:endParaRPr u="sng">
              <a:solidFill>
                <a:schemeClr val="accent2"/>
              </a:solidFill>
            </a:endParaRPr>
          </a:p>
        </p:txBody>
      </p:sp>
      <p:sp>
        <p:nvSpPr>
          <p:cNvPr id="167" name="Google Shape;167;p21"/>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68" name="Google Shape;168;p21"/>
          <p:cNvSpPr txBox="1"/>
          <p:nvPr/>
        </p:nvSpPr>
        <p:spPr>
          <a:xfrm>
            <a:off x="2263925" y="1924050"/>
            <a:ext cx="8718000" cy="450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Unique Constraint                    </a:t>
            </a:r>
            <a:r>
              <a:rPr b="1" lang="en-US" sz="1900">
                <a:solidFill>
                  <a:schemeClr val="dk1"/>
                </a:solidFill>
              </a:rPr>
              <a:t>UNIQUE constraints added</a:t>
            </a:r>
            <a:endParaRPr b="1" sz="1900">
              <a:solidFill>
                <a:schemeClr val="dk1"/>
              </a:solidFill>
            </a:endParaRPr>
          </a:p>
          <a:p>
            <a:pPr indent="-349250" lvl="0" marL="5486400" rtl="0" algn="l">
              <a:lnSpc>
                <a:spcPct val="115000"/>
              </a:lnSpc>
              <a:spcBef>
                <a:spcPts val="1200"/>
              </a:spcBef>
              <a:spcAft>
                <a:spcPts val="0"/>
              </a:spcAft>
              <a:buClr>
                <a:schemeClr val="dk1"/>
              </a:buClr>
              <a:buSzPts val="1900"/>
              <a:buChar char="●"/>
            </a:pPr>
            <a:r>
              <a:rPr b="1" lang="en-US" sz="1900">
                <a:solidFill>
                  <a:schemeClr val="dk1"/>
                </a:solidFill>
                <a:latin typeface="Roboto Mono"/>
                <a:ea typeface="Roboto Mono"/>
                <a:cs typeface="Roboto Mono"/>
                <a:sym typeface="Roboto Mono"/>
              </a:rPr>
              <a:t>CountryName</a:t>
            </a:r>
            <a:r>
              <a:rPr b="1" lang="en-US" sz="1900">
                <a:solidFill>
                  <a:schemeClr val="dk1"/>
                </a:solidFill>
              </a:rPr>
              <a:t> is unique</a:t>
            </a:r>
            <a:br>
              <a:rPr b="1" lang="en-US" sz="1900">
                <a:solidFill>
                  <a:schemeClr val="dk1"/>
                </a:solidFill>
              </a:rPr>
            </a:br>
            <a:endParaRPr b="1" sz="1900">
              <a:solidFill>
                <a:schemeClr val="dk1"/>
              </a:solidFill>
            </a:endParaRPr>
          </a:p>
          <a:p>
            <a:pPr indent="-349250" lvl="0" marL="5486400" rtl="0" algn="l">
              <a:lnSpc>
                <a:spcPct val="115000"/>
              </a:lnSpc>
              <a:spcBef>
                <a:spcPts val="0"/>
              </a:spcBef>
              <a:spcAft>
                <a:spcPts val="0"/>
              </a:spcAft>
              <a:buClr>
                <a:schemeClr val="dk1"/>
              </a:buClr>
              <a:buSzPts val="1900"/>
              <a:buChar char="●"/>
            </a:pPr>
            <a:r>
              <a:rPr b="1" lang="en-US" sz="1900">
                <a:solidFill>
                  <a:schemeClr val="dk1"/>
                </a:solidFill>
                <a:latin typeface="Roboto Mono"/>
                <a:ea typeface="Roboto Mono"/>
                <a:cs typeface="Roboto Mono"/>
                <a:sym typeface="Roboto Mono"/>
              </a:rPr>
              <a:t>SalesID</a:t>
            </a:r>
            <a:r>
              <a:rPr b="1" lang="en-US" sz="1900">
                <a:solidFill>
                  <a:schemeClr val="dk1"/>
                </a:solidFill>
              </a:rPr>
              <a:t> is unique</a:t>
            </a:r>
            <a:br>
              <a:rPr b="1" lang="en-US" sz="1900">
                <a:solidFill>
                  <a:schemeClr val="dk1"/>
                </a:solidFill>
              </a:rPr>
            </a:br>
            <a:endParaRPr b="1" sz="1900">
              <a:solidFill>
                <a:schemeClr val="dk1"/>
              </a:solidFill>
            </a:endParaRPr>
          </a:p>
          <a:p>
            <a:pPr indent="-349250" lvl="0" marL="5486400" rtl="0" algn="l">
              <a:lnSpc>
                <a:spcPct val="115000"/>
              </a:lnSpc>
              <a:spcBef>
                <a:spcPts val="0"/>
              </a:spcBef>
              <a:spcAft>
                <a:spcPts val="0"/>
              </a:spcAft>
              <a:buClr>
                <a:schemeClr val="dk1"/>
              </a:buClr>
              <a:buSzPts val="1900"/>
              <a:buChar char="●"/>
            </a:pPr>
            <a:r>
              <a:rPr b="1" lang="en-US" sz="1900">
                <a:solidFill>
                  <a:schemeClr val="dk1"/>
                </a:solidFill>
                <a:latin typeface="Roboto Mono"/>
                <a:ea typeface="Roboto Mono"/>
                <a:cs typeface="Roboto Mono"/>
                <a:sym typeface="Roboto Mono"/>
              </a:rPr>
              <a:t>(SalesID, LineItemNumber)</a:t>
            </a:r>
            <a:r>
              <a:rPr b="1" lang="en-US" sz="1900">
                <a:solidFill>
                  <a:schemeClr val="dk1"/>
                </a:solidFill>
              </a:rPr>
              <a:t> is unique</a:t>
            </a:r>
            <a:br>
              <a:rPr b="1" lang="en-US" sz="1900">
                <a:solidFill>
                  <a:schemeClr val="dk1"/>
                </a:solidFill>
              </a:rPr>
            </a:br>
            <a:endParaRPr b="1" sz="1900">
              <a:solidFill>
                <a:schemeClr val="dk1"/>
              </a:solidFill>
            </a:endParaRPr>
          </a:p>
          <a:p>
            <a:pPr indent="-349250" lvl="0" marL="5486400" rtl="0" algn="l">
              <a:lnSpc>
                <a:spcPct val="115000"/>
              </a:lnSpc>
              <a:spcBef>
                <a:spcPts val="0"/>
              </a:spcBef>
              <a:spcAft>
                <a:spcPts val="0"/>
              </a:spcAft>
              <a:buClr>
                <a:schemeClr val="dk1"/>
              </a:buClr>
              <a:buSzPts val="1900"/>
              <a:buChar char="●"/>
            </a:pPr>
            <a:r>
              <a:rPr b="1" lang="en-US" sz="1900">
                <a:solidFill>
                  <a:schemeClr val="dk1"/>
                </a:solidFill>
                <a:latin typeface="Roboto Mono"/>
                <a:ea typeface="Roboto Mono"/>
                <a:cs typeface="Roboto Mono"/>
                <a:sym typeface="Roboto Mono"/>
              </a:rPr>
              <a:t>Color</a:t>
            </a:r>
            <a:r>
              <a:rPr b="1" lang="en-US" sz="1900">
                <a:solidFill>
                  <a:schemeClr val="dk1"/>
                </a:solidFill>
              </a:rPr>
              <a:t> is unique</a:t>
            </a:r>
            <a:endParaRPr b="1" sz="1900">
              <a:solidFill>
                <a:schemeClr val="dk1"/>
              </a:solidFill>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pic>
        <p:nvPicPr>
          <p:cNvPr id="169" name="Google Shape;169;p21"/>
          <p:cNvPicPr preferRelativeResize="0"/>
          <p:nvPr/>
        </p:nvPicPr>
        <p:blipFill>
          <a:blip r:embed="rId3">
            <a:alphaModFix/>
          </a:blip>
          <a:stretch>
            <a:fillRect/>
          </a:stretch>
        </p:blipFill>
        <p:spPr>
          <a:xfrm>
            <a:off x="393050" y="3218275"/>
            <a:ext cx="6770924" cy="30908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73" name="Shape 173"/>
        <p:cNvGrpSpPr/>
        <p:nvPr/>
      </p:nvGrpSpPr>
      <p:grpSpPr>
        <a:xfrm>
          <a:off x="0" y="0"/>
          <a:ext cx="0" cy="0"/>
          <a:chOff x="0" y="0"/>
          <a:chExt cx="0" cy="0"/>
        </a:xfrm>
      </p:grpSpPr>
      <p:sp>
        <p:nvSpPr>
          <p:cNvPr id="174" name="Google Shape;174;p22"/>
          <p:cNvSpPr txBox="1"/>
          <p:nvPr/>
        </p:nvSpPr>
        <p:spPr>
          <a:xfrm>
            <a:off x="2971925" y="161025"/>
            <a:ext cx="48006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2c: </a:t>
            </a:r>
            <a:r>
              <a:rPr b="1" lang="en-US" sz="3600" u="sng">
                <a:solidFill>
                  <a:schemeClr val="accent2"/>
                </a:solidFill>
                <a:latin typeface="Inter"/>
                <a:ea typeface="Inter"/>
                <a:cs typeface="Inter"/>
                <a:sym typeface="Inter"/>
              </a:rPr>
              <a:t>Unique Constraints</a:t>
            </a:r>
            <a:endParaRPr u="sng">
              <a:solidFill>
                <a:schemeClr val="accent2"/>
              </a:solidFill>
            </a:endParaRPr>
          </a:p>
        </p:txBody>
      </p:sp>
      <p:sp>
        <p:nvSpPr>
          <p:cNvPr id="175" name="Google Shape;175;p22"/>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76" name="Google Shape;176;p22"/>
          <p:cNvSpPr txBox="1"/>
          <p:nvPr/>
        </p:nvSpPr>
        <p:spPr>
          <a:xfrm>
            <a:off x="677050" y="1392525"/>
            <a:ext cx="8440800" cy="511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BEFORE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AFTER</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77" name="Google Shape;177;p22"/>
          <p:cNvSpPr txBox="1"/>
          <p:nvPr/>
        </p:nvSpPr>
        <p:spPr>
          <a:xfrm>
            <a:off x="2396275" y="1269225"/>
            <a:ext cx="6493800" cy="720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Reference.Country</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CountryISO3   CountryName</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USA           United States</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USA           United States          -- duplicate</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DEU           Germany</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FRA           France</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800">
                <a:solidFill>
                  <a:schemeClr val="dk1"/>
                </a:solidFill>
                <a:latin typeface="Calibri"/>
                <a:ea typeface="Calibri"/>
                <a:cs typeface="Calibri"/>
                <a:sym typeface="Calibri"/>
              </a:rPr>
              <a:t>DEU           Germany                -- duplicate</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Reference.Country</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CountryISO2 | CountryISO3 | CountryName | SalesRegion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DE          	  | DEU                | Germany          | EMEA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FR          	  | FRA                 | France              | EMEA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IT                     | ITA                  | Italy                   | EMEA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ES          	  | ESP                 | Spain                 | EMEA       </a:t>
            </a:r>
            <a:endParaRPr sz="1900">
              <a:solidFill>
                <a:schemeClr val="dk1"/>
              </a:solidFill>
              <a:latin typeface="Calibri"/>
              <a:ea typeface="Calibri"/>
              <a:cs typeface="Calibri"/>
              <a:sym typeface="Calibri"/>
            </a:endParaRPr>
          </a:p>
          <a:p>
            <a:pPr indent="0" lvl="0" marL="0" rtl="0" algn="l">
              <a:spcBef>
                <a:spcPts val="0"/>
              </a:spcBef>
              <a:spcAft>
                <a:spcPts val="0"/>
              </a:spcAft>
              <a:buNone/>
            </a:pPr>
            <a:r>
              <a:rPr lang="en-US" sz="1900">
                <a:solidFill>
                  <a:schemeClr val="dk1"/>
                </a:solidFill>
                <a:latin typeface="Calibri"/>
                <a:ea typeface="Calibri"/>
                <a:cs typeface="Calibri"/>
                <a:sym typeface="Calibri"/>
              </a:rPr>
              <a:t>| US                   | USA                | United States   | AMER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81" name="Shape 181"/>
        <p:cNvGrpSpPr/>
        <p:nvPr/>
      </p:nvGrpSpPr>
      <p:grpSpPr>
        <a:xfrm>
          <a:off x="0" y="0"/>
          <a:ext cx="0" cy="0"/>
          <a:chOff x="0" y="0"/>
          <a:chExt cx="0" cy="0"/>
        </a:xfrm>
      </p:grpSpPr>
      <p:sp>
        <p:nvSpPr>
          <p:cNvPr id="182" name="Google Shape;182;p23"/>
          <p:cNvSpPr txBox="1"/>
          <p:nvPr/>
        </p:nvSpPr>
        <p:spPr>
          <a:xfrm>
            <a:off x="2971925" y="533750"/>
            <a:ext cx="4800600" cy="1108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2d: </a:t>
            </a:r>
            <a:r>
              <a:rPr b="1" lang="en-US" sz="3600" u="sng">
                <a:solidFill>
                  <a:schemeClr val="accent2"/>
                </a:solidFill>
                <a:latin typeface="Inter"/>
                <a:ea typeface="Inter"/>
                <a:cs typeface="Inter"/>
                <a:sym typeface="Inter"/>
              </a:rPr>
              <a:t>Check </a:t>
            </a:r>
            <a:r>
              <a:rPr b="1" i="0" lang="en-US" sz="3600" u="sng" cap="none" strike="noStrike">
                <a:solidFill>
                  <a:schemeClr val="accent2"/>
                </a:solidFill>
                <a:latin typeface="Inter"/>
                <a:ea typeface="Inter"/>
                <a:cs typeface="Inter"/>
                <a:sym typeface="Inter"/>
              </a:rPr>
              <a:t>Constraints</a:t>
            </a:r>
            <a:endParaRPr u="sng">
              <a:solidFill>
                <a:schemeClr val="accent2"/>
              </a:solidFill>
            </a:endParaRPr>
          </a:p>
        </p:txBody>
      </p:sp>
      <p:sp>
        <p:nvSpPr>
          <p:cNvPr id="183" name="Google Shape;183;p23"/>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84" name="Google Shape;184;p23"/>
          <p:cNvSpPr txBox="1"/>
          <p:nvPr/>
        </p:nvSpPr>
        <p:spPr>
          <a:xfrm>
            <a:off x="1283225" y="1828200"/>
            <a:ext cx="9169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Check </a:t>
            </a:r>
            <a:r>
              <a:rPr lang="en-US" sz="2000">
                <a:solidFill>
                  <a:schemeClr val="dk1"/>
                </a:solidFill>
                <a:latin typeface="Calibri"/>
                <a:ea typeface="Calibri"/>
                <a:cs typeface="Calibri"/>
                <a:sym typeface="Calibri"/>
              </a:rPr>
              <a:t>Constraint is to enforce domain integrity by defining specific conditions that data must satisfy before it can be entered into a column. It's the most flexible constraint because you can use it to create almost any logical rule for whatever the care salesman needs.</a:t>
            </a:r>
            <a:endParaRPr sz="2000">
              <a:solidFill>
                <a:schemeClr val="dk1"/>
              </a:solidFill>
              <a:latin typeface="Calibri"/>
              <a:ea typeface="Calibri"/>
              <a:cs typeface="Calibri"/>
              <a:sym typeface="Calibri"/>
            </a:endParaRPr>
          </a:p>
        </p:txBody>
      </p:sp>
      <p:pic>
        <p:nvPicPr>
          <p:cNvPr id="185" name="Google Shape;185;p23"/>
          <p:cNvPicPr preferRelativeResize="0"/>
          <p:nvPr/>
        </p:nvPicPr>
        <p:blipFill>
          <a:blip r:embed="rId3">
            <a:alphaModFix/>
          </a:blip>
          <a:stretch>
            <a:fillRect/>
          </a:stretch>
        </p:blipFill>
        <p:spPr>
          <a:xfrm>
            <a:off x="2243025" y="3051925"/>
            <a:ext cx="5434450" cy="3555775"/>
          </a:xfrm>
          <a:prstGeom prst="rect">
            <a:avLst/>
          </a:prstGeom>
          <a:noFill/>
          <a:ln>
            <a:noFill/>
          </a:ln>
        </p:spPr>
      </p:pic>
      <p:sp>
        <p:nvSpPr>
          <p:cNvPr id="186" name="Google Shape;186;p23"/>
          <p:cNvSpPr txBox="1"/>
          <p:nvPr/>
        </p:nvSpPr>
        <p:spPr>
          <a:xfrm>
            <a:off x="8016250" y="3468625"/>
            <a:ext cx="4200000" cy="28137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rgbClr val="000000"/>
              </a:buClr>
              <a:buSzPts val="1400"/>
              <a:buChar char="●"/>
            </a:pPr>
            <a:r>
              <a:rPr lang="en-US"/>
              <a:t>Prevent bad values from entering the table</a:t>
            </a:r>
            <a:br>
              <a:rPr lang="en-US"/>
            </a:br>
            <a:endParaRPr/>
          </a:p>
          <a:p>
            <a:pPr indent="-317500" lvl="0" marL="457200" rtl="0" algn="l">
              <a:lnSpc>
                <a:spcPct val="115000"/>
              </a:lnSpc>
              <a:spcBef>
                <a:spcPts val="0"/>
              </a:spcBef>
              <a:spcAft>
                <a:spcPts val="0"/>
              </a:spcAft>
              <a:buClr>
                <a:srgbClr val="000000"/>
              </a:buClr>
              <a:buSzPts val="1400"/>
              <a:buChar char="●"/>
            </a:pPr>
            <a:r>
              <a:rPr lang="en-US"/>
              <a:t>Enforce business rules automatically</a:t>
            </a:r>
            <a:br>
              <a:rPr lang="en-US"/>
            </a:br>
            <a:endParaRPr/>
          </a:p>
          <a:p>
            <a:pPr indent="-317500" lvl="0" marL="457200" rtl="0" algn="l">
              <a:lnSpc>
                <a:spcPct val="115000"/>
              </a:lnSpc>
              <a:spcBef>
                <a:spcPts val="0"/>
              </a:spcBef>
              <a:spcAft>
                <a:spcPts val="0"/>
              </a:spcAft>
              <a:buClr>
                <a:srgbClr val="000000"/>
              </a:buClr>
              <a:buSzPts val="1400"/>
              <a:buChar char="●"/>
            </a:pPr>
            <a:r>
              <a:rPr lang="en-US"/>
              <a:t>Protect the table from incorrect data (negative prices, wrong formats, invalid codes, etc.)</a:t>
            </a:r>
            <a:br>
              <a:rPr lang="en-US"/>
            </a:br>
            <a:endParaRPr/>
          </a:p>
          <a:p>
            <a:pPr indent="0" lvl="0" marL="0" rtl="0" algn="l">
              <a:spcBef>
                <a:spcPts val="120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90" name="Shape 190"/>
        <p:cNvGrpSpPr/>
        <p:nvPr/>
      </p:nvGrpSpPr>
      <p:grpSpPr>
        <a:xfrm>
          <a:off x="0" y="0"/>
          <a:ext cx="0" cy="0"/>
          <a:chOff x="0" y="0"/>
          <a:chExt cx="0" cy="0"/>
        </a:xfrm>
      </p:grpSpPr>
      <p:sp>
        <p:nvSpPr>
          <p:cNvPr id="191" name="Google Shape;191;p24"/>
          <p:cNvSpPr txBox="1"/>
          <p:nvPr/>
        </p:nvSpPr>
        <p:spPr>
          <a:xfrm>
            <a:off x="2971925" y="161025"/>
            <a:ext cx="4800600" cy="1108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b="1" lang="en-US" sz="3600" u="sng">
                <a:solidFill>
                  <a:schemeClr val="accent2"/>
                </a:solidFill>
                <a:latin typeface="Inter"/>
                <a:ea typeface="Inter"/>
                <a:cs typeface="Inter"/>
                <a:sym typeface="Inter"/>
              </a:rPr>
              <a:t>Part 2d: Check Constraints</a:t>
            </a:r>
            <a:endParaRPr u="sng">
              <a:solidFill>
                <a:schemeClr val="accent2"/>
              </a:solidFill>
            </a:endParaRPr>
          </a:p>
        </p:txBody>
      </p:sp>
      <p:sp>
        <p:nvSpPr>
          <p:cNvPr id="192" name="Google Shape;192;p24"/>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sp>
        <p:nvSpPr>
          <p:cNvPr id="193" name="Google Shape;193;p24"/>
          <p:cNvSpPr txBox="1"/>
          <p:nvPr/>
        </p:nvSpPr>
        <p:spPr>
          <a:xfrm>
            <a:off x="677050" y="1392525"/>
            <a:ext cx="8440800" cy="511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BEFORE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AFTER</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94" name="Google Shape;194;p24"/>
          <p:cNvSpPr txBox="1"/>
          <p:nvPr/>
        </p:nvSpPr>
        <p:spPr>
          <a:xfrm>
            <a:off x="2396275" y="1269225"/>
            <a:ext cx="8856900" cy="567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CountryISO2     NCHAR(2)   NULL</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CountryISO3     NCHAR(3)   NULL</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CountryName   NVARCHAR(50) NULL</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1900">
                <a:solidFill>
                  <a:schemeClr val="dk1"/>
                </a:solidFill>
                <a:latin typeface="Calibri"/>
                <a:ea typeface="Calibri"/>
                <a:cs typeface="Calibri"/>
                <a:sym typeface="Calibri"/>
              </a:rPr>
              <a:t>SalesRegion       NVARCHAR(10) NULL</a:t>
            </a:r>
            <a:endParaRPr sz="19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CountryISO2   NCHAR(2)   NOT NULL   CHECK (LEN(CountryISO2) = 2)</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CountryISO3   NCHAR(3)   NOT NULL   CHECK (LEN(CountryISO3) = 3)</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rPr lang="en-US" sz="2400">
                <a:solidFill>
                  <a:schemeClr val="dk1"/>
                </a:solidFill>
                <a:latin typeface="Calibri"/>
                <a:ea typeface="Calibri"/>
                <a:cs typeface="Calibri"/>
                <a:sym typeface="Calibri"/>
              </a:rPr>
              <a:t>CountryName   NVARCHAR(50) NOT NULL</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24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198" name="Shape 198"/>
        <p:cNvGrpSpPr/>
        <p:nvPr/>
      </p:nvGrpSpPr>
      <p:grpSpPr>
        <a:xfrm>
          <a:off x="0" y="0"/>
          <a:ext cx="0" cy="0"/>
          <a:chOff x="0" y="0"/>
          <a:chExt cx="0" cy="0"/>
        </a:xfrm>
      </p:grpSpPr>
      <p:sp>
        <p:nvSpPr>
          <p:cNvPr id="199" name="Google Shape;199;p25"/>
          <p:cNvSpPr txBox="1"/>
          <p:nvPr/>
        </p:nvSpPr>
        <p:spPr>
          <a:xfrm>
            <a:off x="2971925" y="533750"/>
            <a:ext cx="4800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sng" cap="none" strike="noStrike">
                <a:solidFill>
                  <a:schemeClr val="accent2"/>
                </a:solidFill>
                <a:latin typeface="Inter"/>
                <a:ea typeface="Inter"/>
                <a:cs typeface="Inter"/>
                <a:sym typeface="Inter"/>
              </a:rPr>
              <a:t>P</a:t>
            </a:r>
            <a:r>
              <a:rPr b="1" lang="en-US" sz="3600" u="sng">
                <a:solidFill>
                  <a:schemeClr val="accent2"/>
                </a:solidFill>
                <a:latin typeface="Inter"/>
                <a:ea typeface="Inter"/>
                <a:cs typeface="Inter"/>
                <a:sym typeface="Inter"/>
              </a:rPr>
              <a:t>art</a:t>
            </a:r>
            <a:r>
              <a:rPr b="1" i="0" lang="en-US" sz="3600" u="sng" cap="none" strike="noStrike">
                <a:solidFill>
                  <a:schemeClr val="accent2"/>
                </a:solidFill>
                <a:latin typeface="Inter"/>
                <a:ea typeface="Inter"/>
                <a:cs typeface="Inter"/>
                <a:sym typeface="Inter"/>
              </a:rPr>
              <a:t> 2e: Defaults </a:t>
            </a:r>
            <a:endParaRPr u="sng">
              <a:solidFill>
                <a:schemeClr val="accent2"/>
              </a:solidFill>
            </a:endParaRPr>
          </a:p>
        </p:txBody>
      </p:sp>
      <p:sp>
        <p:nvSpPr>
          <p:cNvPr id="200" name="Google Shape;200;p25"/>
          <p:cNvSpPr txBox="1"/>
          <p:nvPr/>
        </p:nvSpPr>
        <p:spPr>
          <a:xfrm>
            <a:off x="762000" y="2266950"/>
            <a:ext cx="48006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8FAFC"/>
                </a:solidFill>
                <a:latin typeface="Inter"/>
                <a:ea typeface="Inter"/>
                <a:cs typeface="Inter"/>
                <a:sym typeface="Inter"/>
              </a:rPr>
              <a:t>The Gatekeepers</a:t>
            </a:r>
            <a:endParaRPr/>
          </a:p>
        </p:txBody>
      </p:sp>
      <p:sp>
        <p:nvSpPr>
          <p:cNvPr id="201" name="Google Shape;201;p25"/>
          <p:cNvSpPr txBox="1"/>
          <p:nvPr/>
        </p:nvSpPr>
        <p:spPr>
          <a:xfrm>
            <a:off x="1332475" y="1799625"/>
            <a:ext cx="8808600" cy="3379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a:p>
            <a:pPr indent="0" lvl="0" marL="0" marR="0" rtl="0" algn="l">
              <a:lnSpc>
                <a:spcPct val="159944"/>
              </a:lnSpc>
              <a:spcBef>
                <a:spcPts val="0"/>
              </a:spcBef>
              <a:spcAft>
                <a:spcPts val="0"/>
              </a:spcAft>
              <a:buNone/>
            </a:pPr>
            <a:r>
              <a:t/>
            </a:r>
            <a:endParaRPr sz="1800">
              <a:latin typeface="Inter"/>
              <a:ea typeface="Inter"/>
              <a:cs typeface="Inter"/>
              <a:sym typeface="Inter"/>
            </a:endParaRPr>
          </a:p>
        </p:txBody>
      </p:sp>
      <p:sp>
        <p:nvSpPr>
          <p:cNvPr id="202" name="Google Shape;202;p25"/>
          <p:cNvSpPr txBox="1"/>
          <p:nvPr/>
        </p:nvSpPr>
        <p:spPr>
          <a:xfrm>
            <a:off x="762000" y="7024836"/>
            <a:ext cx="4572000" cy="0"/>
          </a:xfrm>
          <a:prstGeom prst="rect">
            <a:avLst/>
          </a:prstGeom>
          <a:noFill/>
          <a:ln>
            <a:noFill/>
          </a:ln>
        </p:spPr>
        <p:txBody>
          <a:bodyPr anchorCtr="0" anchor="t" bIns="0" lIns="0" spcFirstLastPara="1" rIns="0" wrap="square" tIns="0">
            <a:noAutofit/>
          </a:bodyPr>
          <a:lstStyle/>
          <a:p>
            <a:pPr indent="0" lvl="0" marL="0" marR="0" rtl="0" algn="l">
              <a:lnSpc>
                <a:spcPct val="159944"/>
              </a:lnSpc>
              <a:spcBef>
                <a:spcPts val="0"/>
              </a:spcBef>
              <a:spcAft>
                <a:spcPts val="0"/>
              </a:spcAft>
              <a:buNone/>
            </a:pPr>
            <a:r>
              <a:rPr b="1" i="0" lang="en-US" sz="1800" u="none" cap="none" strike="noStrike">
                <a:solidFill>
                  <a:srgbClr val="2DD4BF"/>
                </a:solidFill>
                <a:latin typeface="Inter"/>
                <a:ea typeface="Inter"/>
                <a:cs typeface="Inter"/>
                <a:sym typeface="Inter"/>
              </a:rPr>
              <a:t>Result: It is impossible for a row to physically exist with an invalid format.</a:t>
            </a:r>
            <a:endParaRPr/>
          </a:p>
        </p:txBody>
      </p:sp>
      <p:pic>
        <p:nvPicPr>
          <p:cNvPr id="203" name="Google Shape;203;p25"/>
          <p:cNvPicPr preferRelativeResize="0"/>
          <p:nvPr/>
        </p:nvPicPr>
        <p:blipFill>
          <a:blip r:embed="rId3">
            <a:alphaModFix/>
          </a:blip>
          <a:stretch>
            <a:fillRect/>
          </a:stretch>
        </p:blipFill>
        <p:spPr>
          <a:xfrm>
            <a:off x="1938063" y="2379550"/>
            <a:ext cx="6581775" cy="2219325"/>
          </a:xfrm>
          <a:prstGeom prst="rect">
            <a:avLst/>
          </a:prstGeom>
          <a:noFill/>
          <a:ln>
            <a:noFill/>
          </a:ln>
        </p:spPr>
      </p:pic>
      <p:sp>
        <p:nvSpPr>
          <p:cNvPr id="204" name="Google Shape;204;p25"/>
          <p:cNvSpPr txBox="1"/>
          <p:nvPr/>
        </p:nvSpPr>
        <p:spPr>
          <a:xfrm>
            <a:off x="2240963" y="1318800"/>
            <a:ext cx="5976000" cy="1600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DEFAULT CONSTRAINTS </a:t>
            </a:r>
            <a:r>
              <a:rPr lang="en-US" sz="2000">
                <a:solidFill>
                  <a:schemeClr val="dk1"/>
                </a:solidFill>
              </a:rPr>
              <a:t> It assigns automatic, sensible values to certain fields if a user or program forgets to provide them during data entry.</a:t>
            </a:r>
            <a:endParaRPr sz="2000">
              <a:solidFill>
                <a:schemeClr val="dk1"/>
              </a:solidFill>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08" name="Shape 208"/>
        <p:cNvGrpSpPr/>
        <p:nvPr/>
      </p:nvGrpSpPr>
      <p:grpSpPr>
        <a:xfrm>
          <a:off x="0" y="0"/>
          <a:ext cx="0" cy="0"/>
          <a:chOff x="0" y="0"/>
          <a:chExt cx="0" cy="0"/>
        </a:xfrm>
      </p:grpSpPr>
      <p:sp>
        <p:nvSpPr>
          <p:cNvPr id="209" name="Google Shape;209;p2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3 UDT </a:t>
            </a:r>
            <a:endParaRPr>
              <a:solidFill>
                <a:schemeClr val="accent2"/>
              </a:solidFill>
            </a:endParaRPr>
          </a:p>
        </p:txBody>
      </p:sp>
      <p:sp>
        <p:nvSpPr>
          <p:cNvPr id="210" name="Google Shape;210;p26"/>
          <p:cNvSpPr txBox="1"/>
          <p:nvPr/>
        </p:nvSpPr>
        <p:spPr>
          <a:xfrm>
            <a:off x="571488" y="1393675"/>
            <a:ext cx="5976000" cy="344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solidFill>
                  <a:schemeClr val="dk1"/>
                </a:solidFill>
                <a:latin typeface="Calibri"/>
                <a:ea typeface="Calibri"/>
                <a:cs typeface="Calibri"/>
                <a:sym typeface="Calibri"/>
              </a:rPr>
              <a:t>A user defined data type (UDT) can be created to help standardize columns for multiple tables. They also maintain data integrity if business requirements change. UDTs also have the benefit of preventing invalid data that does not match the type, or null data from being entered in the </a:t>
            </a:r>
            <a:r>
              <a:rPr lang="en-US" sz="2000">
                <a:solidFill>
                  <a:schemeClr val="dk1"/>
                </a:solidFill>
                <a:latin typeface="Calibri"/>
                <a:ea typeface="Calibri"/>
                <a:cs typeface="Calibri"/>
                <a:sym typeface="Calibri"/>
              </a:rPr>
              <a:t>future</a:t>
            </a:r>
            <a:r>
              <a:rPr lang="en-US" sz="2000">
                <a:solidFill>
                  <a:schemeClr val="dk1"/>
                </a:solidFill>
                <a:latin typeface="Calibri"/>
                <a:ea typeface="Calibri"/>
                <a:cs typeface="Calibri"/>
                <a:sym typeface="Calibri"/>
              </a:rPr>
              <a:t>.</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2000">
              <a:solidFill>
                <a:schemeClr val="dk1"/>
              </a:solidFill>
              <a:latin typeface="Calibri"/>
              <a:ea typeface="Calibri"/>
              <a:cs typeface="Calibri"/>
              <a:sym typeface="Calibri"/>
            </a:endParaRPr>
          </a:p>
          <a:p>
            <a:pPr indent="0" lvl="0" marL="0" rtl="0" algn="l">
              <a:spcBef>
                <a:spcPts val="0"/>
              </a:spcBef>
              <a:spcAft>
                <a:spcPts val="0"/>
              </a:spcAft>
              <a:buNone/>
            </a:pPr>
            <a:r>
              <a:rPr lang="en-US" sz="2000">
                <a:solidFill>
                  <a:schemeClr val="dk1"/>
                </a:solidFill>
                <a:latin typeface="Calibri"/>
                <a:ea typeface="Calibri"/>
                <a:cs typeface="Calibri"/>
                <a:sym typeface="Calibri"/>
              </a:rPr>
              <a:t>We can first define these UDTs then apply them to columns as needed.</a:t>
            </a:r>
            <a:endParaRPr sz="20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pic>
        <p:nvPicPr>
          <p:cNvPr id="211" name="Google Shape;211;p26"/>
          <p:cNvPicPr preferRelativeResize="0"/>
          <p:nvPr/>
        </p:nvPicPr>
        <p:blipFill>
          <a:blip r:embed="rId3">
            <a:alphaModFix/>
          </a:blip>
          <a:stretch>
            <a:fillRect/>
          </a:stretch>
        </p:blipFill>
        <p:spPr>
          <a:xfrm>
            <a:off x="2159612" y="4344975"/>
            <a:ext cx="2799775" cy="2297901"/>
          </a:xfrm>
          <a:prstGeom prst="rect">
            <a:avLst/>
          </a:prstGeom>
          <a:noFill/>
          <a:ln>
            <a:noFill/>
          </a:ln>
        </p:spPr>
      </p:pic>
      <p:pic>
        <p:nvPicPr>
          <p:cNvPr id="212" name="Google Shape;212;p26"/>
          <p:cNvPicPr preferRelativeResize="0"/>
          <p:nvPr/>
        </p:nvPicPr>
        <p:blipFill>
          <a:blip r:embed="rId4">
            <a:alphaModFix/>
          </a:blip>
          <a:stretch>
            <a:fillRect/>
          </a:stretch>
        </p:blipFill>
        <p:spPr>
          <a:xfrm>
            <a:off x="7342299" y="715200"/>
            <a:ext cx="4061855" cy="54276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3a: Choosing Data Types</a:t>
            </a:r>
            <a:endParaRPr>
              <a:solidFill>
                <a:schemeClr val="accent2"/>
              </a:solidFill>
            </a:endParaRPr>
          </a:p>
        </p:txBody>
      </p:sp>
      <p:sp>
        <p:nvSpPr>
          <p:cNvPr id="218" name="Google Shape;218;p27"/>
          <p:cNvSpPr txBox="1"/>
          <p:nvPr/>
        </p:nvSpPr>
        <p:spPr>
          <a:xfrm>
            <a:off x="570600" y="1547775"/>
            <a:ext cx="10934400" cy="4894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Font typeface="Calibri"/>
              <a:buAutoNum type="arabicPeriod"/>
            </a:pPr>
            <a:r>
              <a:rPr b="1" lang="en-US" sz="1700">
                <a:solidFill>
                  <a:schemeClr val="dk1"/>
                </a:solidFill>
                <a:latin typeface="Calibri"/>
                <a:ea typeface="Calibri"/>
                <a:cs typeface="Calibri"/>
                <a:sym typeface="Calibri"/>
              </a:rPr>
              <a:t> UDT_CountryCode FROM nchar(3) NOT NULL</a:t>
            </a:r>
            <a:endParaRPr b="1"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ISO-3166 country codes are always 3 characters (e.g., USA, GBR, FRA).</a:t>
            </a:r>
            <a:endParaRPr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nchar(3) limits each entry to 3 characters</a:t>
            </a:r>
            <a:endParaRPr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NOT NULL prevents null entries</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b="1" lang="en-US" sz="1700">
                <a:solidFill>
                  <a:schemeClr val="dk1"/>
                </a:solidFill>
                <a:latin typeface="Calibri"/>
                <a:ea typeface="Calibri"/>
                <a:cs typeface="Calibri"/>
                <a:sym typeface="Calibri"/>
              </a:rPr>
              <a:t>dbo.UDT_CustomerID FROM nvarchar(</a:t>
            </a:r>
            <a:r>
              <a:rPr b="1" lang="en-US" sz="1700">
                <a:solidFill>
                  <a:schemeClr val="dk1"/>
                </a:solidFill>
                <a:latin typeface="Calibri"/>
                <a:ea typeface="Calibri"/>
                <a:cs typeface="Calibri"/>
                <a:sym typeface="Calibri"/>
              </a:rPr>
              <a:t>5</a:t>
            </a:r>
            <a:r>
              <a:rPr b="1" lang="en-US" sz="1700">
                <a:solidFill>
                  <a:schemeClr val="dk1"/>
                </a:solidFill>
                <a:latin typeface="Calibri"/>
                <a:ea typeface="Calibri"/>
                <a:cs typeface="Calibri"/>
                <a:sym typeface="Calibri"/>
              </a:rPr>
              <a:t>) NOT NULL</a:t>
            </a:r>
            <a:endParaRPr b="1"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Each CustomerID has leading 0s for a length of 4 characters (e.g. 0001, 0087, 0020)</a:t>
            </a:r>
            <a:endParaRPr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nvarchar(</a:t>
            </a:r>
            <a:r>
              <a:rPr lang="en-US" sz="1700">
                <a:solidFill>
                  <a:schemeClr val="dk1"/>
                </a:solidFill>
                <a:latin typeface="Calibri"/>
                <a:ea typeface="Calibri"/>
                <a:cs typeface="Calibri"/>
                <a:sym typeface="Calibri"/>
              </a:rPr>
              <a:t>5</a:t>
            </a:r>
            <a:r>
              <a:rPr lang="en-US" sz="1700">
                <a:solidFill>
                  <a:schemeClr val="dk1"/>
                </a:solidFill>
                <a:latin typeface="Calibri"/>
                <a:ea typeface="Calibri"/>
                <a:cs typeface="Calibri"/>
                <a:sym typeface="Calibri"/>
              </a:rPr>
              <a:t>) can allow for customer ids &gt; 9999</a:t>
            </a:r>
            <a:endParaRPr sz="1700">
              <a:solidFill>
                <a:schemeClr val="dk1"/>
              </a:solidFill>
              <a:latin typeface="Calibri"/>
              <a:ea typeface="Calibri"/>
              <a:cs typeface="Calibri"/>
              <a:sym typeface="Calibri"/>
            </a:endParaRPr>
          </a:p>
          <a:p>
            <a:pPr indent="0" lvl="0" marL="137160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b="1" lang="en-US" sz="1700">
                <a:solidFill>
                  <a:schemeClr val="dk1"/>
                </a:solidFill>
                <a:latin typeface="Calibri"/>
                <a:ea typeface="Calibri"/>
                <a:cs typeface="Calibri"/>
                <a:sym typeface="Calibri"/>
              </a:rPr>
              <a:t>CREATE TYPE dbo.UDT_ModelID FROM smallint NOT NULL</a:t>
            </a:r>
            <a:endParaRPr b="1"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smallint is any integer from 0–32,767</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b="1" lang="en-US" sz="1700">
                <a:solidFill>
                  <a:schemeClr val="dk1"/>
                </a:solidFill>
                <a:latin typeface="Calibri"/>
                <a:ea typeface="Calibri"/>
                <a:cs typeface="Calibri"/>
                <a:sym typeface="Calibri"/>
              </a:rPr>
              <a:t>CREATE TYPE dbo.UDT_StockCode FROM nvarchar(50) NOT NULL</a:t>
            </a:r>
            <a:endParaRPr b="1"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There can be any number of orders, so nvarchar has a high limit</a:t>
            </a:r>
            <a:endParaRPr sz="1700">
              <a:solidFill>
                <a:schemeClr val="dk1"/>
              </a:solidFill>
              <a:latin typeface="Calibri"/>
              <a:ea typeface="Calibri"/>
              <a:cs typeface="Calibri"/>
              <a:sym typeface="Calibri"/>
            </a:endParaRPr>
          </a:p>
          <a:p>
            <a:pPr indent="0" lvl="0" marL="1371600" rtl="0" algn="l">
              <a:spcBef>
                <a:spcPts val="0"/>
              </a:spcBef>
              <a:spcAft>
                <a:spcPts val="0"/>
              </a:spcAft>
              <a:buNone/>
            </a:pPr>
            <a:r>
              <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Font typeface="Calibri"/>
              <a:buAutoNum type="arabicPeriod"/>
            </a:pPr>
            <a:r>
              <a:rPr b="1" lang="en-US" sz="1700">
                <a:solidFill>
                  <a:schemeClr val="dk1"/>
                </a:solidFill>
                <a:latin typeface="Calibri"/>
                <a:ea typeface="Calibri"/>
                <a:cs typeface="Calibri"/>
                <a:sym typeface="Calibri"/>
              </a:rPr>
              <a:t>CREATE TYPE dbo.UDT_Money FROM money NOT NULL;</a:t>
            </a:r>
            <a:endParaRPr b="1" sz="1700">
              <a:solidFill>
                <a:schemeClr val="dk1"/>
              </a:solidFill>
              <a:latin typeface="Calibri"/>
              <a:ea typeface="Calibri"/>
              <a:cs typeface="Calibri"/>
              <a:sym typeface="Calibri"/>
            </a:endParaRPr>
          </a:p>
          <a:p>
            <a:pPr indent="-336550" lvl="0" marL="914400" rtl="0" algn="l">
              <a:spcBef>
                <a:spcPts val="0"/>
              </a:spcBef>
              <a:spcAft>
                <a:spcPts val="0"/>
              </a:spcAft>
              <a:buClr>
                <a:schemeClr val="dk1"/>
              </a:buClr>
              <a:buSzPts val="1700"/>
              <a:buFont typeface="Calibri"/>
              <a:buChar char="-"/>
            </a:pPr>
            <a:r>
              <a:rPr lang="en-US" sz="1700">
                <a:solidFill>
                  <a:schemeClr val="dk1"/>
                </a:solidFill>
                <a:latin typeface="Calibri"/>
                <a:ea typeface="Calibri"/>
                <a:cs typeface="Calibri"/>
                <a:sym typeface="Calibri"/>
              </a:rPr>
              <a:t>money is a data type present in SQL server. It has fixed precision of four decimal places.</a:t>
            </a:r>
            <a:endParaRPr sz="1700">
              <a:solidFill>
                <a:schemeClr val="dk1"/>
              </a:solidFill>
              <a:latin typeface="Calibri"/>
              <a:ea typeface="Calibri"/>
              <a:cs typeface="Calibri"/>
              <a:sym typeface="Calibri"/>
            </a:endParaRPr>
          </a:p>
          <a:p>
            <a:pPr indent="-228600" lvl="0" marL="457200" rtl="0" algn="l">
              <a:spcBef>
                <a:spcPts val="0"/>
              </a:spcBef>
              <a:spcAft>
                <a:spcPts val="0"/>
              </a:spcAft>
              <a:buClr>
                <a:schemeClr val="dk1"/>
              </a:buClr>
              <a:buSzPts val="2000"/>
              <a:buFont typeface="Calibri"/>
              <a:buNone/>
            </a:pPr>
            <a:r>
              <a:t/>
            </a:r>
            <a:endParaRPr b="1" sz="17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3b: Cross System </a:t>
            </a:r>
            <a:r>
              <a:rPr b="1" lang="en-US" sz="3600">
                <a:solidFill>
                  <a:schemeClr val="accent2"/>
                </a:solidFill>
                <a:latin typeface="Inter"/>
                <a:ea typeface="Inter"/>
                <a:cs typeface="Inter"/>
                <a:sym typeface="Inter"/>
              </a:rPr>
              <a:t>Compatibility</a:t>
            </a:r>
            <a:endParaRPr>
              <a:solidFill>
                <a:schemeClr val="accent2"/>
              </a:solidFill>
            </a:endParaRPr>
          </a:p>
        </p:txBody>
      </p:sp>
      <p:sp>
        <p:nvSpPr>
          <p:cNvPr id="224" name="Google Shape;224;p28"/>
          <p:cNvSpPr txBox="1"/>
          <p:nvPr/>
        </p:nvSpPr>
        <p:spPr>
          <a:xfrm>
            <a:off x="628800" y="5103300"/>
            <a:ext cx="10934400" cy="1754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solidFill>
                  <a:schemeClr val="dk1"/>
                </a:solidFill>
                <a:latin typeface="Calibri"/>
                <a:ea typeface="Calibri"/>
                <a:cs typeface="Calibri"/>
                <a:sym typeface="Calibri"/>
              </a:rPr>
              <a:t>PostgreSQL</a:t>
            </a:r>
            <a:r>
              <a:rPr lang="en-US" sz="1700">
                <a:solidFill>
                  <a:schemeClr val="dk1"/>
                </a:solidFill>
                <a:latin typeface="Calibri"/>
                <a:ea typeface="Calibri"/>
                <a:cs typeface="Calibri"/>
                <a:sym typeface="Calibri"/>
              </a:rPr>
              <a:t> does not have a built in UDT function. A workaround is to use a domain which allows for reusable datatypes within a table. Oracle represents UDTs as a Subtype object, but a NOT NULL constraint is not allowed on a subtype. It must be done on a per table basis.</a:t>
            </a:r>
            <a:endParaRPr sz="1700">
              <a:solidFill>
                <a:schemeClr val="dk1"/>
              </a:solidFill>
              <a:latin typeface="Calibri"/>
              <a:ea typeface="Calibri"/>
              <a:cs typeface="Calibri"/>
              <a:sym typeface="Calibri"/>
            </a:endParaRPr>
          </a:p>
          <a:p>
            <a:pPr indent="-228600" lvl="0" marL="457200" rtl="0" algn="l">
              <a:spcBef>
                <a:spcPts val="0"/>
              </a:spcBef>
              <a:spcAft>
                <a:spcPts val="0"/>
              </a:spcAft>
              <a:buClr>
                <a:schemeClr val="dk1"/>
              </a:buClr>
              <a:buSzPts val="2000"/>
              <a:buFont typeface="Calibri"/>
              <a:buNone/>
            </a:pPr>
            <a:r>
              <a:rPr lang="en-US" sz="1700">
                <a:solidFill>
                  <a:schemeClr val="dk1"/>
                </a:solidFill>
                <a:latin typeface="Calibri"/>
                <a:ea typeface="Calibri"/>
                <a:cs typeface="Calibri"/>
                <a:sym typeface="Calibri"/>
              </a:rPr>
              <a:t>- </a:t>
            </a:r>
            <a:r>
              <a:rPr lang="en-US" sz="1700">
                <a:solidFill>
                  <a:schemeClr val="dk1"/>
                </a:solidFill>
                <a:latin typeface="Calibri"/>
                <a:ea typeface="Calibri"/>
                <a:cs typeface="Calibri"/>
                <a:sym typeface="Calibri"/>
              </a:rPr>
              <a:t>nchar/nvarchar is represented as char/varchar in PostgreSQL and Oracle. </a:t>
            </a:r>
            <a:endParaRPr sz="1700">
              <a:solidFill>
                <a:schemeClr val="dk1"/>
              </a:solidFill>
              <a:latin typeface="Calibri"/>
              <a:ea typeface="Calibri"/>
              <a:cs typeface="Calibri"/>
              <a:sym typeface="Calibri"/>
            </a:endParaRPr>
          </a:p>
          <a:p>
            <a:pPr indent="-228600" lvl="0" marL="457200" rtl="0" algn="l">
              <a:spcBef>
                <a:spcPts val="0"/>
              </a:spcBef>
              <a:spcAft>
                <a:spcPts val="0"/>
              </a:spcAft>
              <a:buClr>
                <a:schemeClr val="dk1"/>
              </a:buClr>
              <a:buSzPts val="2000"/>
              <a:buFont typeface="Calibri"/>
              <a:buNone/>
            </a:pPr>
            <a:r>
              <a:rPr lang="en-US" sz="1700">
                <a:solidFill>
                  <a:schemeClr val="dk1"/>
                </a:solidFill>
                <a:latin typeface="Calibri"/>
                <a:ea typeface="Calibri"/>
                <a:cs typeface="Calibri"/>
                <a:sym typeface="Calibri"/>
              </a:rPr>
              <a:t>- money is not a valid type in PostgreSQL and oracle. We can use a numeric (PostgreSQL) or number (Oracle) function that limits a decimal to 4 places to achieve the same function as money.</a:t>
            </a:r>
            <a:endParaRPr sz="1700">
              <a:solidFill>
                <a:schemeClr val="dk1"/>
              </a:solidFill>
              <a:latin typeface="Calibri"/>
              <a:ea typeface="Calibri"/>
              <a:cs typeface="Calibri"/>
              <a:sym typeface="Calibri"/>
            </a:endParaRPr>
          </a:p>
        </p:txBody>
      </p:sp>
      <p:graphicFrame>
        <p:nvGraphicFramePr>
          <p:cNvPr id="225" name="Google Shape;225;p28"/>
          <p:cNvGraphicFramePr/>
          <p:nvPr/>
        </p:nvGraphicFramePr>
        <p:xfrm>
          <a:off x="877600" y="1125600"/>
          <a:ext cx="3000000" cy="3000000"/>
        </p:xfrm>
        <a:graphic>
          <a:graphicData uri="http://schemas.openxmlformats.org/drawingml/2006/table">
            <a:tbl>
              <a:tblPr>
                <a:noFill/>
                <a:tableStyleId>{D94C5EF4-44C3-46DC-9021-66A94354057C}</a:tableStyleId>
              </a:tblPr>
              <a:tblGrid>
                <a:gridCol w="3517500"/>
                <a:gridCol w="3517500"/>
                <a:gridCol w="3517500"/>
              </a:tblGrid>
              <a:tr h="549800">
                <a:tc>
                  <a:txBody>
                    <a:bodyPr/>
                    <a:lstStyle/>
                    <a:p>
                      <a:pPr indent="0" lvl="0" marL="0" rtl="0" algn="ctr">
                        <a:spcBef>
                          <a:spcPts val="0"/>
                        </a:spcBef>
                        <a:spcAft>
                          <a:spcPts val="0"/>
                        </a:spcAft>
                        <a:buClr>
                          <a:schemeClr val="dk1"/>
                        </a:buClr>
                        <a:buSzPts val="1100"/>
                        <a:buFont typeface="Arial"/>
                        <a:buNone/>
                      </a:pPr>
                      <a:r>
                        <a:rPr b="1" lang="en-US">
                          <a:solidFill>
                            <a:schemeClr val="dk1"/>
                          </a:solidFill>
                        </a:rPr>
                        <a:t>SQL Server</a:t>
                      </a:r>
                      <a:endParaRPr b="1">
                        <a:solidFill>
                          <a:schemeClr val="dk1"/>
                        </a:solidFill>
                      </a:endParaRPr>
                    </a:p>
                    <a:p>
                      <a:pPr indent="0" lvl="0" marL="0" rtl="0" algn="ctr">
                        <a:spcBef>
                          <a:spcPts val="0"/>
                        </a:spcBef>
                        <a:spcAft>
                          <a:spcPts val="0"/>
                        </a:spcAft>
                        <a:buNone/>
                      </a:pPr>
                      <a:r>
                        <a:t/>
                      </a:r>
                      <a:endParaRPr/>
                    </a:p>
                  </a:txBody>
                  <a:tcPr marT="91425" marB="91425" marR="91425" marL="91425">
                    <a:solidFill>
                      <a:srgbClr val="888888"/>
                    </a:solidFill>
                  </a:tcPr>
                </a:tc>
                <a:tc>
                  <a:txBody>
                    <a:bodyPr/>
                    <a:lstStyle/>
                    <a:p>
                      <a:pPr indent="0" lvl="0" marL="0" rtl="0" algn="ctr">
                        <a:spcBef>
                          <a:spcPts val="0"/>
                        </a:spcBef>
                        <a:spcAft>
                          <a:spcPts val="0"/>
                        </a:spcAft>
                        <a:buNone/>
                      </a:pPr>
                      <a:r>
                        <a:rPr b="1" lang="en-US"/>
                        <a:t>PostgreSQL</a:t>
                      </a:r>
                      <a:endParaRPr b="1"/>
                    </a:p>
                  </a:txBody>
                  <a:tcPr marT="91425" marB="91425" marR="91425" marL="91425">
                    <a:solidFill>
                      <a:srgbClr val="888888"/>
                    </a:solidFill>
                  </a:tcPr>
                </a:tc>
                <a:tc>
                  <a:txBody>
                    <a:bodyPr/>
                    <a:lstStyle/>
                    <a:p>
                      <a:pPr indent="0" lvl="0" marL="0" rtl="0" algn="ctr">
                        <a:spcBef>
                          <a:spcPts val="0"/>
                        </a:spcBef>
                        <a:spcAft>
                          <a:spcPts val="0"/>
                        </a:spcAft>
                        <a:buNone/>
                      </a:pPr>
                      <a:r>
                        <a:rPr b="1" lang="en-US"/>
                        <a:t>Oracle SQL</a:t>
                      </a:r>
                      <a:endParaRPr b="1"/>
                    </a:p>
                  </a:txBody>
                  <a:tcPr marT="91425" marB="91425" marR="91425" marL="91425">
                    <a:solidFill>
                      <a:srgbClr val="888888"/>
                    </a:solidFill>
                  </a:tcPr>
                </a:tc>
              </a:tr>
              <a:tr h="549800">
                <a:tc>
                  <a:txBody>
                    <a:bodyPr/>
                    <a:lstStyle/>
                    <a:p>
                      <a:pPr indent="0" lvl="0" marL="0" rtl="0" algn="l">
                        <a:spcBef>
                          <a:spcPts val="0"/>
                        </a:spcBef>
                        <a:spcAft>
                          <a:spcPts val="0"/>
                        </a:spcAft>
                        <a:buNone/>
                      </a:pPr>
                      <a:r>
                        <a:rPr lang="en-US"/>
                        <a:t>CREATE TYPE dbo.UDT_CountryCode FROM nchar(3) NOT NULL;</a:t>
                      </a:r>
                      <a:endParaRPr/>
                    </a:p>
                  </a:txBody>
                  <a:tcPr marT="91425" marB="91425" marR="91425" marL="91425"/>
                </a:tc>
                <a:tc>
                  <a:txBody>
                    <a:bodyPr/>
                    <a:lstStyle/>
                    <a:p>
                      <a:pPr indent="0" lvl="0" marL="0" rtl="0" algn="l">
                        <a:spcBef>
                          <a:spcPts val="0"/>
                        </a:spcBef>
                        <a:spcAft>
                          <a:spcPts val="0"/>
                        </a:spcAft>
                        <a:buNone/>
                      </a:pPr>
                      <a:r>
                        <a:rPr lang="en-US"/>
                        <a:t>CREATE DOMAIN </a:t>
                      </a:r>
                      <a:r>
                        <a:rPr lang="en-US">
                          <a:solidFill>
                            <a:schemeClr val="dk1"/>
                          </a:solidFill>
                        </a:rPr>
                        <a:t>UDT_CountryCode </a:t>
                      </a:r>
                      <a:r>
                        <a:rPr lang="en-US"/>
                        <a:t>AS char(3) NOT NULL;</a:t>
                      </a:r>
                      <a:endParaRPr/>
                    </a:p>
                  </a:txBody>
                  <a:tcPr marT="91425" marB="91425" marR="91425" marL="91425"/>
                </a:tc>
                <a:tc>
                  <a:txBody>
                    <a:bodyPr/>
                    <a:lstStyle/>
                    <a:p>
                      <a:pPr indent="0" lvl="0" marL="0" rtl="0" algn="l">
                        <a:spcBef>
                          <a:spcPts val="0"/>
                        </a:spcBef>
                        <a:spcAft>
                          <a:spcPts val="0"/>
                        </a:spcAft>
                        <a:buNone/>
                      </a:pPr>
                      <a:r>
                        <a:rPr lang="en-US"/>
                        <a:t>CREATE OR REPLACE SUBTYPE </a:t>
                      </a:r>
                      <a:r>
                        <a:rPr lang="en-US">
                          <a:solidFill>
                            <a:schemeClr val="dk1"/>
                          </a:solidFill>
                        </a:rPr>
                        <a:t>UDT_CountryCode </a:t>
                      </a:r>
                      <a:r>
                        <a:rPr lang="en-US"/>
                        <a:t>IS CHAR(3);</a:t>
                      </a:r>
                      <a:endParaRPr/>
                    </a:p>
                  </a:txBody>
                  <a:tcPr marT="91425" marB="91425" marR="91425" marL="91425"/>
                </a:tc>
              </a:tr>
              <a:tr h="549800">
                <a:tc>
                  <a:txBody>
                    <a:bodyPr/>
                    <a:lstStyle/>
                    <a:p>
                      <a:pPr indent="0" lvl="0" marL="0" rtl="0" algn="l">
                        <a:spcBef>
                          <a:spcPts val="0"/>
                        </a:spcBef>
                        <a:spcAft>
                          <a:spcPts val="0"/>
                        </a:spcAft>
                        <a:buNone/>
                      </a:pPr>
                      <a:r>
                        <a:rPr lang="en-US"/>
                        <a:t>CREATE TYPE dbo.UDT_CustomerID FROM nvarchar(5) NOT NULL;</a:t>
                      </a:r>
                      <a:endParaRPr/>
                    </a:p>
                  </a:txBody>
                  <a:tcPr marT="91425" marB="91425" marR="91425" marL="91425"/>
                </a:tc>
                <a:tc>
                  <a:txBody>
                    <a:bodyPr/>
                    <a:lstStyle/>
                    <a:p>
                      <a:pPr indent="0" lvl="0" marL="0" rtl="0" algn="l">
                        <a:spcBef>
                          <a:spcPts val="0"/>
                        </a:spcBef>
                        <a:spcAft>
                          <a:spcPts val="0"/>
                        </a:spcAft>
                        <a:buNone/>
                      </a:pPr>
                      <a:r>
                        <a:rPr lang="en-US"/>
                        <a:t>CREATE DOMAIN </a:t>
                      </a:r>
                      <a:r>
                        <a:rPr lang="en-US">
                          <a:solidFill>
                            <a:schemeClr val="dk1"/>
                          </a:solidFill>
                        </a:rPr>
                        <a:t>UDT_CustomerID </a:t>
                      </a:r>
                      <a:r>
                        <a:rPr lang="en-US"/>
                        <a:t>AS varchar(5) NOT NULL;</a:t>
                      </a:r>
                      <a:endParaRPr/>
                    </a:p>
                  </a:txBody>
                  <a:tcPr marT="91425" marB="91425" marR="91425" marL="91425"/>
                </a:tc>
                <a:tc>
                  <a:txBody>
                    <a:bodyPr/>
                    <a:lstStyle/>
                    <a:p>
                      <a:pPr indent="0" lvl="0" marL="0" rtl="0" algn="l">
                        <a:spcBef>
                          <a:spcPts val="0"/>
                        </a:spcBef>
                        <a:spcAft>
                          <a:spcPts val="0"/>
                        </a:spcAft>
                        <a:buNone/>
                      </a:pPr>
                      <a:r>
                        <a:rPr lang="en-US"/>
                        <a:t>CREATE OR REPLACE SUBTYPE </a:t>
                      </a:r>
                      <a:r>
                        <a:rPr lang="en-US">
                          <a:solidFill>
                            <a:schemeClr val="dk1"/>
                          </a:solidFill>
                        </a:rPr>
                        <a:t>UDT_CustomerID </a:t>
                      </a:r>
                      <a:r>
                        <a:rPr lang="en-US"/>
                        <a:t>IS VARCHAR2(5);</a:t>
                      </a:r>
                      <a:endParaRPr/>
                    </a:p>
                  </a:txBody>
                  <a:tcPr marT="91425" marB="91425" marR="91425" marL="91425"/>
                </a:tc>
              </a:tr>
              <a:tr h="607725">
                <a:tc>
                  <a:txBody>
                    <a:bodyPr/>
                    <a:lstStyle/>
                    <a:p>
                      <a:pPr indent="0" lvl="0" marL="0" rtl="0" algn="l">
                        <a:spcBef>
                          <a:spcPts val="0"/>
                        </a:spcBef>
                        <a:spcAft>
                          <a:spcPts val="0"/>
                        </a:spcAft>
                        <a:buNone/>
                      </a:pPr>
                      <a:r>
                        <a:rPr lang="en-US"/>
                        <a:t>CREATE TYPE dbo.UDT_ModelID FROM smallint NOT NULL;</a:t>
                      </a:r>
                      <a:endParaRPr/>
                    </a:p>
                  </a:txBody>
                  <a:tcPr marT="91425" marB="91425" marR="91425" marL="91425"/>
                </a:tc>
                <a:tc>
                  <a:txBody>
                    <a:bodyPr/>
                    <a:lstStyle/>
                    <a:p>
                      <a:pPr indent="0" lvl="0" marL="0" rtl="0" algn="l">
                        <a:spcBef>
                          <a:spcPts val="0"/>
                        </a:spcBef>
                        <a:spcAft>
                          <a:spcPts val="0"/>
                        </a:spcAft>
                        <a:buNone/>
                      </a:pPr>
                      <a:r>
                        <a:rPr lang="en-US"/>
                        <a:t>CREATE DOMAIN </a:t>
                      </a:r>
                      <a:r>
                        <a:rPr lang="en-US">
                          <a:solidFill>
                            <a:schemeClr val="dk1"/>
                          </a:solidFill>
                        </a:rPr>
                        <a:t>UDT_ModelID </a:t>
                      </a:r>
                      <a:r>
                        <a:rPr lang="en-US"/>
                        <a:t>AS smallint NOT NULL;</a:t>
                      </a:r>
                      <a:endParaRPr/>
                    </a:p>
                  </a:txBody>
                  <a:tcPr marT="91425" marB="91425" marR="91425" marL="91425"/>
                </a:tc>
                <a:tc>
                  <a:txBody>
                    <a:bodyPr/>
                    <a:lstStyle/>
                    <a:p>
                      <a:pPr indent="0" lvl="0" marL="0" rtl="0" algn="l">
                        <a:spcBef>
                          <a:spcPts val="0"/>
                        </a:spcBef>
                        <a:spcAft>
                          <a:spcPts val="0"/>
                        </a:spcAft>
                        <a:buNone/>
                      </a:pPr>
                      <a:r>
                        <a:rPr lang="en-US"/>
                        <a:t>CREATE OR REPLACE SUBTYPE </a:t>
                      </a:r>
                      <a:r>
                        <a:rPr lang="en-US">
                          <a:solidFill>
                            <a:schemeClr val="dk1"/>
                          </a:solidFill>
                        </a:rPr>
                        <a:t>UDT_ModelID </a:t>
                      </a:r>
                      <a:r>
                        <a:rPr lang="en-US"/>
                        <a:t>IS NUMBER(5);</a:t>
                      </a:r>
                      <a:endParaRPr/>
                    </a:p>
                  </a:txBody>
                  <a:tcPr marT="91425" marB="91425" marR="91425" marL="91425"/>
                </a:tc>
              </a:tr>
              <a:tr h="549800">
                <a:tc>
                  <a:txBody>
                    <a:bodyPr/>
                    <a:lstStyle/>
                    <a:p>
                      <a:pPr indent="0" lvl="0" marL="0" rtl="0" algn="l">
                        <a:spcBef>
                          <a:spcPts val="0"/>
                        </a:spcBef>
                        <a:spcAft>
                          <a:spcPts val="0"/>
                        </a:spcAft>
                        <a:buNone/>
                      </a:pPr>
                      <a:r>
                        <a:rPr lang="en-US"/>
                        <a:t>CREATE TYPE dbo.UDT_StockCode FROM nvarchar(50) NOT NULL;</a:t>
                      </a:r>
                      <a:endParaRPr/>
                    </a:p>
                  </a:txBody>
                  <a:tcPr marT="91425" marB="91425" marR="91425" marL="91425"/>
                </a:tc>
                <a:tc>
                  <a:txBody>
                    <a:bodyPr/>
                    <a:lstStyle/>
                    <a:p>
                      <a:pPr indent="0" lvl="0" marL="0" rtl="0" algn="l">
                        <a:spcBef>
                          <a:spcPts val="0"/>
                        </a:spcBef>
                        <a:spcAft>
                          <a:spcPts val="0"/>
                        </a:spcAft>
                        <a:buNone/>
                      </a:pPr>
                      <a:r>
                        <a:rPr lang="en-US"/>
                        <a:t>CREATE DOMAIN </a:t>
                      </a:r>
                      <a:r>
                        <a:rPr lang="en-US">
                          <a:solidFill>
                            <a:schemeClr val="dk1"/>
                          </a:solidFill>
                        </a:rPr>
                        <a:t>UDT_StockCode </a:t>
                      </a:r>
                      <a:r>
                        <a:rPr lang="en-US"/>
                        <a:t>AS varchar(50) NOT NULL;</a:t>
                      </a:r>
                      <a:endParaRPr/>
                    </a:p>
                  </a:txBody>
                  <a:tcPr marT="91425" marB="91425" marR="91425" marL="91425"/>
                </a:tc>
                <a:tc>
                  <a:txBody>
                    <a:bodyPr/>
                    <a:lstStyle/>
                    <a:p>
                      <a:pPr indent="0" lvl="0" marL="0" rtl="0" algn="l">
                        <a:spcBef>
                          <a:spcPts val="0"/>
                        </a:spcBef>
                        <a:spcAft>
                          <a:spcPts val="0"/>
                        </a:spcAft>
                        <a:buNone/>
                      </a:pPr>
                      <a:r>
                        <a:rPr lang="en-US"/>
                        <a:t>CREATE OR REPLACE SUBTYPE </a:t>
                      </a:r>
                      <a:r>
                        <a:rPr lang="en-US">
                          <a:solidFill>
                            <a:schemeClr val="dk1"/>
                          </a:solidFill>
                        </a:rPr>
                        <a:t>UDT_StockCode </a:t>
                      </a:r>
                      <a:r>
                        <a:rPr lang="en-US"/>
                        <a:t>IS VARCHAR2(50);</a:t>
                      </a:r>
                      <a:endParaRPr/>
                    </a:p>
                  </a:txBody>
                  <a:tcPr marT="91425" marB="91425" marR="91425" marL="91425"/>
                </a:tc>
              </a:tr>
              <a:tr h="790225">
                <a:tc>
                  <a:txBody>
                    <a:bodyPr/>
                    <a:lstStyle/>
                    <a:p>
                      <a:pPr indent="0" lvl="0" marL="0" rtl="0" algn="l">
                        <a:spcBef>
                          <a:spcPts val="0"/>
                        </a:spcBef>
                        <a:spcAft>
                          <a:spcPts val="0"/>
                        </a:spcAft>
                        <a:buNone/>
                      </a:pPr>
                      <a:r>
                        <a:rPr lang="en-US"/>
                        <a:t>CREATE TYPE dbo.UDT_Money FROM money NOT NULL;</a:t>
                      </a:r>
                      <a:endParaRPr/>
                    </a:p>
                  </a:txBody>
                  <a:tcPr marT="91425" marB="91425" marR="91425" marL="91425"/>
                </a:tc>
                <a:tc>
                  <a:txBody>
                    <a:bodyPr/>
                    <a:lstStyle/>
                    <a:p>
                      <a:pPr indent="0" lvl="0" marL="0" rtl="0" algn="l">
                        <a:spcBef>
                          <a:spcPts val="0"/>
                        </a:spcBef>
                        <a:spcAft>
                          <a:spcPts val="0"/>
                        </a:spcAft>
                        <a:buNone/>
                      </a:pPr>
                      <a:r>
                        <a:rPr lang="en-US"/>
                        <a:t>CREATE DOMAIN </a:t>
                      </a:r>
                      <a:r>
                        <a:rPr lang="en-US">
                          <a:solidFill>
                            <a:schemeClr val="dk1"/>
                          </a:solidFill>
                        </a:rPr>
                        <a:t>UDT_Money </a:t>
                      </a:r>
                      <a:r>
                        <a:rPr lang="en-US"/>
                        <a:t>AS numeric(19,4) NOT NULL;</a:t>
                      </a:r>
                      <a:endParaRPr/>
                    </a:p>
                  </a:txBody>
                  <a:tcPr marT="91425" marB="91425" marR="91425" marL="91425"/>
                </a:tc>
                <a:tc>
                  <a:txBody>
                    <a:bodyPr/>
                    <a:lstStyle/>
                    <a:p>
                      <a:pPr indent="0" lvl="0" marL="0" rtl="0" algn="l">
                        <a:spcBef>
                          <a:spcPts val="0"/>
                        </a:spcBef>
                        <a:spcAft>
                          <a:spcPts val="0"/>
                        </a:spcAft>
                        <a:buClr>
                          <a:schemeClr val="dk1"/>
                        </a:buClr>
                        <a:buSzPts val="1100"/>
                        <a:buFont typeface="Arial"/>
                        <a:buNone/>
                      </a:pPr>
                      <a:r>
                        <a:rPr lang="en-US"/>
                        <a:t>CREATE OR REPLACE SUBTYPE </a:t>
                      </a:r>
                      <a:r>
                        <a:rPr lang="en-US">
                          <a:solidFill>
                            <a:schemeClr val="dk1"/>
                          </a:solidFill>
                        </a:rPr>
                        <a:t>UDT_Money </a:t>
                      </a:r>
                      <a:r>
                        <a:rPr lang="en-US"/>
                        <a:t>IS NUMBER(19,4);</a:t>
                      </a:r>
                      <a:endParaRPr/>
                    </a:p>
                    <a:p>
                      <a:pPr indent="0" lvl="0" marL="0" rtl="0" algn="l">
                        <a:spcBef>
                          <a:spcPts val="0"/>
                        </a:spcBef>
                        <a:spcAft>
                          <a:spcPts val="0"/>
                        </a:spcAft>
                        <a:buNone/>
                      </a:pPr>
                      <a:r>
                        <a:t/>
                      </a:r>
                      <a:endParaRPr/>
                    </a:p>
                  </a:txBody>
                  <a:tcPr marT="91425" marB="91425" marR="91425" marL="91425"/>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9"/>
          <p:cNvSpPr txBox="1"/>
          <p:nvPr/>
        </p:nvSpPr>
        <p:spPr>
          <a:xfrm>
            <a:off x="677050" y="1392525"/>
            <a:ext cx="8440800" cy="511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BEFORE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AFTER</a:t>
            </a:r>
            <a:endParaRPr sz="15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100"/>
              <a:buFont typeface="Arial"/>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31" name="Google Shape;231;p2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3c: UDT Comparisons</a:t>
            </a:r>
            <a:endParaRPr>
              <a:solidFill>
                <a:schemeClr val="accent2"/>
              </a:solidFill>
            </a:endParaRPr>
          </a:p>
        </p:txBody>
      </p:sp>
      <p:pic>
        <p:nvPicPr>
          <p:cNvPr id="232" name="Google Shape;232;p29"/>
          <p:cNvPicPr preferRelativeResize="0"/>
          <p:nvPr/>
        </p:nvPicPr>
        <p:blipFill>
          <a:blip r:embed="rId3">
            <a:alphaModFix/>
          </a:blip>
          <a:stretch>
            <a:fillRect/>
          </a:stretch>
        </p:blipFill>
        <p:spPr>
          <a:xfrm>
            <a:off x="2219325" y="4565063"/>
            <a:ext cx="4705350" cy="2143125"/>
          </a:xfrm>
          <a:prstGeom prst="rect">
            <a:avLst/>
          </a:prstGeom>
          <a:noFill/>
          <a:ln>
            <a:noFill/>
          </a:ln>
        </p:spPr>
      </p:pic>
      <p:pic>
        <p:nvPicPr>
          <p:cNvPr id="233" name="Google Shape;233;p29"/>
          <p:cNvPicPr preferRelativeResize="0"/>
          <p:nvPr/>
        </p:nvPicPr>
        <p:blipFill>
          <a:blip r:embed="rId4">
            <a:alphaModFix/>
          </a:blip>
          <a:stretch>
            <a:fillRect/>
          </a:stretch>
        </p:blipFill>
        <p:spPr>
          <a:xfrm>
            <a:off x="7038975" y="4812725"/>
            <a:ext cx="5086450" cy="1647825"/>
          </a:xfrm>
          <a:prstGeom prst="rect">
            <a:avLst/>
          </a:prstGeom>
          <a:noFill/>
          <a:ln>
            <a:noFill/>
          </a:ln>
        </p:spPr>
      </p:pic>
      <p:pic>
        <p:nvPicPr>
          <p:cNvPr id="234" name="Google Shape;234;p29"/>
          <p:cNvPicPr preferRelativeResize="0"/>
          <p:nvPr/>
        </p:nvPicPr>
        <p:blipFill>
          <a:blip r:embed="rId5">
            <a:alphaModFix/>
          </a:blip>
          <a:stretch>
            <a:fillRect/>
          </a:stretch>
        </p:blipFill>
        <p:spPr>
          <a:xfrm>
            <a:off x="6924678" y="1392528"/>
            <a:ext cx="5086450" cy="1956327"/>
          </a:xfrm>
          <a:prstGeom prst="rect">
            <a:avLst/>
          </a:prstGeom>
          <a:noFill/>
          <a:ln>
            <a:noFill/>
          </a:ln>
        </p:spPr>
      </p:pic>
      <p:pic>
        <p:nvPicPr>
          <p:cNvPr id="235" name="Google Shape;235;p29"/>
          <p:cNvPicPr preferRelativeResize="0"/>
          <p:nvPr/>
        </p:nvPicPr>
        <p:blipFill>
          <a:blip r:embed="rId6">
            <a:alphaModFix/>
          </a:blip>
          <a:stretch>
            <a:fillRect/>
          </a:stretch>
        </p:blipFill>
        <p:spPr>
          <a:xfrm>
            <a:off x="2219313" y="1392513"/>
            <a:ext cx="4410075" cy="2085975"/>
          </a:xfrm>
          <a:prstGeom prst="rect">
            <a:avLst/>
          </a:prstGeom>
          <a:noFill/>
          <a:ln>
            <a:noFill/>
          </a:ln>
        </p:spPr>
      </p:pic>
      <p:pic>
        <p:nvPicPr>
          <p:cNvPr id="236" name="Google Shape;236;p29"/>
          <p:cNvPicPr preferRelativeResize="0"/>
          <p:nvPr/>
        </p:nvPicPr>
        <p:blipFill rotWithShape="1">
          <a:blip r:embed="rId7">
            <a:alphaModFix/>
          </a:blip>
          <a:srcRect b="0" l="0" r="0" t="80842"/>
          <a:stretch/>
        </p:blipFill>
        <p:spPr>
          <a:xfrm>
            <a:off x="4314700" y="3610250"/>
            <a:ext cx="4410075" cy="69341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40" name="Shape 240"/>
        <p:cNvGrpSpPr/>
        <p:nvPr/>
      </p:nvGrpSpPr>
      <p:grpSpPr>
        <a:xfrm>
          <a:off x="0" y="0"/>
          <a:ext cx="0" cy="0"/>
          <a:chOff x="0" y="0"/>
          <a:chExt cx="0" cy="0"/>
        </a:xfrm>
      </p:grpSpPr>
      <p:sp>
        <p:nvSpPr>
          <p:cNvPr id="241" name="Google Shape;241;p3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chemeClr val="accent2"/>
                </a:solidFill>
                <a:latin typeface="Inter"/>
                <a:ea typeface="Inter"/>
                <a:cs typeface="Inter"/>
                <a:sym typeface="Inter"/>
              </a:rPr>
              <a:t>PART 4 ENTITY RELATIONAL DATA MODELING</a:t>
            </a:r>
            <a:endParaRPr>
              <a:solidFill>
                <a:schemeClr val="accent2"/>
              </a:solidFill>
            </a:endParaRPr>
          </a:p>
        </p:txBody>
      </p:sp>
      <p:sp>
        <p:nvSpPr>
          <p:cNvPr id="242" name="Google Shape;242;p30"/>
          <p:cNvSpPr txBox="1"/>
          <p:nvPr/>
        </p:nvSpPr>
        <p:spPr>
          <a:xfrm>
            <a:off x="571500" y="1514475"/>
            <a:ext cx="10644600" cy="4697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a:solidFill>
                  <a:schemeClr val="dk1"/>
                </a:solidFill>
                <a:latin typeface="Calibri"/>
                <a:ea typeface="Calibri"/>
                <a:cs typeface="Calibri"/>
                <a:sym typeface="Calibri"/>
              </a:rPr>
              <a:t>Entity–Relationship Diagrams (ERDs)</a:t>
            </a:r>
            <a:r>
              <a:rPr lang="en-US">
                <a:solidFill>
                  <a:schemeClr val="dk1"/>
                </a:solidFill>
                <a:latin typeface="Calibri"/>
                <a:ea typeface="Calibri"/>
                <a:cs typeface="Calibri"/>
                <a:sym typeface="Calibri"/>
              </a:rPr>
              <a:t> are visual models that show how tables in a database relate to one another.</a:t>
            </a:r>
            <a:br>
              <a:rPr lang="en-US">
                <a:solidFill>
                  <a:schemeClr val="dk1"/>
                </a:solidFill>
                <a:latin typeface="Calibri"/>
                <a:ea typeface="Calibri"/>
                <a:cs typeface="Calibri"/>
                <a:sym typeface="Calibri"/>
              </a:rPr>
            </a:br>
            <a:r>
              <a:rPr lang="en-US">
                <a:solidFill>
                  <a:schemeClr val="dk1"/>
                </a:solidFill>
                <a:latin typeface="Calibri"/>
                <a:ea typeface="Calibri"/>
                <a:cs typeface="Calibri"/>
                <a:sym typeface="Calibri"/>
              </a:rPr>
              <a:t> They represent:</a:t>
            </a:r>
            <a:endParaRPr>
              <a:solidFill>
                <a:schemeClr val="dk1"/>
              </a:solidFill>
              <a:latin typeface="Calibri"/>
              <a:ea typeface="Calibri"/>
              <a:cs typeface="Calibri"/>
              <a:sym typeface="Calibri"/>
            </a:endParaRPr>
          </a:p>
          <a:p>
            <a:pPr indent="-317500" lvl="0" marL="457200" rtl="0" algn="l">
              <a:lnSpc>
                <a:spcPct val="115000"/>
              </a:lnSpc>
              <a:spcBef>
                <a:spcPts val="1200"/>
              </a:spcBef>
              <a:spcAft>
                <a:spcPts val="0"/>
              </a:spcAft>
              <a:buClr>
                <a:schemeClr val="dk1"/>
              </a:buClr>
              <a:buSzPts val="1400"/>
              <a:buChar char="●"/>
            </a:pPr>
            <a:r>
              <a:rPr b="1" lang="en-US">
                <a:solidFill>
                  <a:schemeClr val="dk1"/>
                </a:solidFill>
                <a:latin typeface="Calibri"/>
                <a:ea typeface="Calibri"/>
                <a:cs typeface="Calibri"/>
                <a:sym typeface="Calibri"/>
              </a:rPr>
              <a:t>Entities</a:t>
            </a:r>
            <a:r>
              <a:rPr lang="en-US">
                <a:solidFill>
                  <a:schemeClr val="dk1"/>
                </a:solidFill>
                <a:latin typeface="Calibri"/>
                <a:ea typeface="Calibri"/>
                <a:cs typeface="Calibri"/>
                <a:sym typeface="Calibri"/>
              </a:rPr>
              <a:t> (tables)</a:t>
            </a:r>
            <a:br>
              <a:rPr lang="en-U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alibri"/>
                <a:ea typeface="Calibri"/>
                <a:cs typeface="Calibri"/>
                <a:sym typeface="Calibri"/>
              </a:rPr>
              <a:t>Attributes</a:t>
            </a:r>
            <a:r>
              <a:rPr lang="en-US">
                <a:solidFill>
                  <a:schemeClr val="dk1"/>
                </a:solidFill>
                <a:latin typeface="Calibri"/>
                <a:ea typeface="Calibri"/>
                <a:cs typeface="Calibri"/>
                <a:sym typeface="Calibri"/>
              </a:rPr>
              <a:t> (columns)</a:t>
            </a:r>
            <a:br>
              <a:rPr lang="en-U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317500" lvl="0" marL="457200" rtl="0" algn="l">
              <a:lnSpc>
                <a:spcPct val="115000"/>
              </a:lnSpc>
              <a:spcBef>
                <a:spcPts val="0"/>
              </a:spcBef>
              <a:spcAft>
                <a:spcPts val="0"/>
              </a:spcAft>
              <a:buClr>
                <a:schemeClr val="dk1"/>
              </a:buClr>
              <a:buSzPts val="1400"/>
              <a:buChar char="●"/>
            </a:pPr>
            <a:r>
              <a:rPr b="1" lang="en-US">
                <a:solidFill>
                  <a:schemeClr val="dk1"/>
                </a:solidFill>
                <a:latin typeface="Calibri"/>
                <a:ea typeface="Calibri"/>
                <a:cs typeface="Calibri"/>
                <a:sym typeface="Calibri"/>
              </a:rPr>
              <a:t>Relationships</a:t>
            </a:r>
            <a:r>
              <a:rPr lang="en-US">
                <a:solidFill>
                  <a:schemeClr val="dk1"/>
                </a:solidFill>
                <a:latin typeface="Calibri"/>
                <a:ea typeface="Calibri"/>
                <a:cs typeface="Calibri"/>
                <a:sym typeface="Calibri"/>
              </a:rPr>
              <a:t> (Primary/Foreign Key  connections)</a:t>
            </a:r>
            <a:br>
              <a:rPr lang="en-US">
                <a:solidFill>
                  <a:schemeClr val="dk1"/>
                </a:solidFill>
                <a:latin typeface="Calibri"/>
                <a:ea typeface="Calibri"/>
                <a:cs typeface="Calibri"/>
                <a:sym typeface="Calibri"/>
              </a:rPr>
            </a:b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Calibri"/>
                <a:ea typeface="Calibri"/>
                <a:cs typeface="Calibri"/>
                <a:sym typeface="Calibri"/>
              </a:rPr>
              <a:t>ERDs make it easy to understand how data flows across schemas and how business rules are enforced through constraints.</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Calibri"/>
                <a:ea typeface="Calibri"/>
                <a:cs typeface="Calibri"/>
                <a:sym typeface="Calibri"/>
              </a:rPr>
              <a:t>This ERD was </a:t>
            </a:r>
            <a:r>
              <a:rPr b="1" lang="en-US">
                <a:solidFill>
                  <a:schemeClr val="dk1"/>
                </a:solidFill>
                <a:latin typeface="Calibri"/>
                <a:ea typeface="Calibri"/>
                <a:cs typeface="Calibri"/>
                <a:sym typeface="Calibri"/>
              </a:rPr>
              <a:t>automatically generated in SQL Server Management Studio (SSMS)</a:t>
            </a:r>
            <a:r>
              <a:rPr lang="en-US">
                <a:solidFill>
                  <a:schemeClr val="dk1"/>
                </a:solidFill>
                <a:latin typeface="Calibri"/>
                <a:ea typeface="Calibri"/>
                <a:cs typeface="Calibri"/>
                <a:sym typeface="Calibri"/>
              </a:rPr>
              <a:t> to reflect the final structure of our PrestigeCars database after schema migrations, UDTs, and constraints were applied.</a:t>
            </a:r>
            <a:endParaRPr>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latin typeface="Calibri"/>
                <a:ea typeface="Calibri"/>
                <a:cs typeface="Calibri"/>
                <a:sym typeface="Calibri"/>
              </a:rPr>
              <a:t>ELT Layer (Extract → Load → Transform)</a:t>
            </a:r>
            <a:endParaRPr b="1">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latin typeface="Calibri"/>
                <a:ea typeface="Calibri"/>
                <a:cs typeface="Calibri"/>
                <a:sym typeface="Calibri"/>
              </a:rPr>
              <a:t>In this project, all data was first loaded into SQL Server (“Load”), and then cleaned, structured, and governed directly inside the database (“Transform”).</a:t>
            </a:r>
            <a:endParaRPr>
              <a:solidFill>
                <a:schemeClr val="dk1"/>
              </a:solidFill>
              <a:latin typeface="Calibri"/>
              <a:ea typeface="Calibri"/>
              <a:cs typeface="Calibri"/>
              <a:sym typeface="Calibri"/>
            </a:endParaRPr>
          </a:p>
          <a:p>
            <a:pPr indent="0" lvl="0" marL="0" marR="0" rtl="0" algn="l">
              <a:spcBef>
                <a:spcPts val="1200"/>
              </a:spcBef>
              <a:spcAft>
                <a:spcPts val="0"/>
              </a:spcAft>
              <a:buNone/>
            </a:pPr>
            <a:r>
              <a:t/>
            </a:r>
            <a:endParaRPr b="1" sz="2400">
              <a:solidFill>
                <a:srgbClr val="2DD4BF"/>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pic>
        <p:nvPicPr>
          <p:cNvPr id="247" name="Google Shape;247;p31"/>
          <p:cNvPicPr preferRelativeResize="0"/>
          <p:nvPr/>
        </p:nvPicPr>
        <p:blipFill>
          <a:blip r:embed="rId3">
            <a:alphaModFix/>
          </a:blip>
          <a:stretch>
            <a:fillRect/>
          </a:stretch>
        </p:blipFill>
        <p:spPr>
          <a:xfrm>
            <a:off x="348725" y="152400"/>
            <a:ext cx="3956524" cy="3322399"/>
          </a:xfrm>
          <a:prstGeom prst="rect">
            <a:avLst/>
          </a:prstGeom>
          <a:noFill/>
          <a:ln>
            <a:noFill/>
          </a:ln>
        </p:spPr>
      </p:pic>
      <p:pic>
        <p:nvPicPr>
          <p:cNvPr id="248" name="Google Shape;248;p31"/>
          <p:cNvPicPr preferRelativeResize="0"/>
          <p:nvPr/>
        </p:nvPicPr>
        <p:blipFill>
          <a:blip r:embed="rId4">
            <a:alphaModFix/>
          </a:blip>
          <a:stretch>
            <a:fillRect/>
          </a:stretch>
        </p:blipFill>
        <p:spPr>
          <a:xfrm>
            <a:off x="150500" y="3474800"/>
            <a:ext cx="2432525" cy="3036049"/>
          </a:xfrm>
          <a:prstGeom prst="rect">
            <a:avLst/>
          </a:prstGeom>
          <a:noFill/>
          <a:ln>
            <a:noFill/>
          </a:ln>
        </p:spPr>
      </p:pic>
      <p:sp>
        <p:nvSpPr>
          <p:cNvPr id="249" name="Google Shape;249;p31"/>
          <p:cNvSpPr txBox="1"/>
          <p:nvPr/>
        </p:nvSpPr>
        <p:spPr>
          <a:xfrm>
            <a:off x="4705050" y="152400"/>
            <a:ext cx="7086900" cy="6177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Calibri"/>
                <a:ea typeface="Calibri"/>
                <a:cs typeface="Calibri"/>
                <a:sym typeface="Calibri"/>
              </a:rPr>
              <a:t>This diagram was generated directly using </a:t>
            </a:r>
            <a:r>
              <a:rPr b="1" lang="en-US" sz="1200">
                <a:solidFill>
                  <a:schemeClr val="dk1"/>
                </a:solidFill>
                <a:latin typeface="Calibri"/>
                <a:ea typeface="Calibri"/>
                <a:cs typeface="Calibri"/>
                <a:sym typeface="Calibri"/>
              </a:rPr>
              <a:t>SQL Server Management Studio (SSMS) </a:t>
            </a:r>
            <a:r>
              <a:rPr lang="en-US" sz="1200">
                <a:solidFill>
                  <a:schemeClr val="dk1"/>
                </a:solidFill>
                <a:latin typeface="Calibri"/>
                <a:ea typeface="Calibri"/>
                <a:cs typeface="Calibri"/>
                <a:sym typeface="Calibri"/>
              </a:rPr>
              <a:t>for the PrestigeCars database after all schema migrations, UDT conversions, NOT NULL/UNIQUE/CHECK constraints, and foreign keys were applied.</a:t>
            </a:r>
            <a:endParaRPr sz="1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b="1" lang="en-US" sz="1200">
                <a:solidFill>
                  <a:schemeClr val="dk1"/>
                </a:solidFill>
                <a:latin typeface="Calibri"/>
                <a:ea typeface="Calibri"/>
                <a:cs typeface="Calibri"/>
                <a:sym typeface="Calibri"/>
              </a:rPr>
              <a:t>It shows:</a:t>
            </a:r>
            <a:endParaRPr b="1" sz="1200">
              <a:solidFill>
                <a:schemeClr val="dk1"/>
              </a:solidFill>
              <a:latin typeface="Calibri"/>
              <a:ea typeface="Calibri"/>
              <a:cs typeface="Calibri"/>
              <a:sym typeface="Calibri"/>
            </a:endParaRPr>
          </a:p>
          <a:p>
            <a:pPr indent="-304800" lvl="0" marL="457200" rtl="0" algn="l">
              <a:lnSpc>
                <a:spcPct val="115000"/>
              </a:lnSpc>
              <a:spcBef>
                <a:spcPts val="1200"/>
              </a:spcBef>
              <a:spcAft>
                <a:spcPts val="0"/>
              </a:spcAft>
              <a:buClr>
                <a:schemeClr val="dk1"/>
              </a:buClr>
              <a:buSzPts val="1200"/>
              <a:buChar char="●"/>
            </a:pPr>
            <a:r>
              <a:rPr b="1" lang="en-US" sz="1200">
                <a:solidFill>
                  <a:schemeClr val="dk1"/>
                </a:solidFill>
                <a:latin typeface="Calibri"/>
                <a:ea typeface="Calibri"/>
                <a:cs typeface="Calibri"/>
                <a:sym typeface="Calibri"/>
              </a:rPr>
              <a:t>Entities (tables):</a:t>
            </a:r>
            <a:r>
              <a:rPr lang="en-US" sz="1200">
                <a:solidFill>
                  <a:schemeClr val="dk1"/>
                </a:solidFill>
                <a:latin typeface="Calibri"/>
                <a:ea typeface="Calibri"/>
                <a:cs typeface="Calibri"/>
                <a:sym typeface="Calibri"/>
              </a:rPr>
              <a:t> Country, Make, Model, Stock, Customer, Sales, SalesDetails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Calibri"/>
                <a:ea typeface="Calibri"/>
                <a:cs typeface="Calibri"/>
                <a:sym typeface="Calibri"/>
              </a:rPr>
              <a:t>Attributes:</a:t>
            </a:r>
            <a:r>
              <a:rPr lang="en-US" sz="1200">
                <a:solidFill>
                  <a:schemeClr val="dk1"/>
                </a:solidFill>
                <a:latin typeface="Calibri"/>
                <a:ea typeface="Calibri"/>
                <a:cs typeface="Calibri"/>
                <a:sym typeface="Calibri"/>
              </a:rPr>
              <a:t> Columns inside each table</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Calibri"/>
                <a:ea typeface="Calibri"/>
                <a:cs typeface="Calibri"/>
                <a:sym typeface="Calibri"/>
              </a:rPr>
              <a:t>Primary Keys (PK):</a:t>
            </a:r>
            <a:r>
              <a:rPr lang="en-US" sz="1200">
                <a:solidFill>
                  <a:schemeClr val="dk1"/>
                </a:solidFill>
                <a:latin typeface="Calibri"/>
                <a:ea typeface="Calibri"/>
                <a:cs typeface="Calibri"/>
                <a:sym typeface="Calibri"/>
              </a:rPr>
              <a:t> Unique identifiers for each table</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Calibri"/>
                <a:ea typeface="Calibri"/>
                <a:cs typeface="Calibri"/>
                <a:sym typeface="Calibri"/>
              </a:rPr>
              <a:t>Foreign Keys (FK):</a:t>
            </a:r>
            <a:r>
              <a:rPr lang="en-US" sz="1200">
                <a:solidFill>
                  <a:schemeClr val="dk1"/>
                </a:solidFill>
                <a:latin typeface="Calibri"/>
                <a:ea typeface="Calibri"/>
                <a:cs typeface="Calibri"/>
                <a:sym typeface="Calibri"/>
              </a:rPr>
              <a:t> Columns that create relationships between tables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Font typeface="Calibri"/>
              <a:buChar char="●"/>
            </a:pPr>
            <a:r>
              <a:rPr b="1" lang="en-US" sz="1200">
                <a:solidFill>
                  <a:schemeClr val="dk1"/>
                </a:solidFill>
                <a:latin typeface="Calibri"/>
                <a:ea typeface="Calibri"/>
                <a:cs typeface="Calibri"/>
                <a:sym typeface="Calibri"/>
              </a:rPr>
              <a:t>Relationships:</a:t>
            </a:r>
            <a:br>
              <a:rPr b="1" lang="en-US" sz="1200">
                <a:solidFill>
                  <a:schemeClr val="dk1"/>
                </a:solidFill>
                <a:latin typeface="Calibri"/>
                <a:ea typeface="Calibri"/>
                <a:cs typeface="Calibri"/>
                <a:sym typeface="Calibri"/>
              </a:rPr>
            </a:br>
            <a:endParaRPr b="1"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1 Country →  Many Makes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1 Make → Many Models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1 Model → Many Stock items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1 Customer → Many Sales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1 Sale → Many SalesDetails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1" marL="914400" rtl="0" algn="l">
              <a:lnSpc>
                <a:spcPct val="115000"/>
              </a:lnSpc>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Stock items link to SalesDetails via StockID</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304800" lvl="0" marL="457200" rtl="0" algn="l">
              <a:lnSpc>
                <a:spcPct val="115000"/>
              </a:lnSpc>
              <a:spcBef>
                <a:spcPts val="0"/>
              </a:spcBef>
              <a:spcAft>
                <a:spcPts val="0"/>
              </a:spcAft>
              <a:buClr>
                <a:schemeClr val="dk1"/>
              </a:buClr>
              <a:buSzPts val="1200"/>
              <a:buChar char="●"/>
            </a:pPr>
            <a:r>
              <a:rPr b="1" lang="en-US" sz="1200">
                <a:solidFill>
                  <a:schemeClr val="dk1"/>
                </a:solidFill>
                <a:latin typeface="Calibri"/>
                <a:ea typeface="Calibri"/>
                <a:cs typeface="Calibri"/>
                <a:sym typeface="Calibri"/>
              </a:rPr>
              <a:t>Data Flow:</a:t>
            </a:r>
            <a:br>
              <a:rPr b="1"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 The diagram visualizes how customer purchases, car inventory, and reference data all connect logically across schemas.</a:t>
            </a:r>
            <a:br>
              <a:rPr lang="en-US" sz="1200">
                <a:solidFill>
                  <a:schemeClr val="dk1"/>
                </a:solidFill>
                <a:latin typeface="Calibri"/>
                <a:ea typeface="Calibri"/>
                <a:cs typeface="Calibri"/>
                <a:sym typeface="Calibri"/>
              </a:rPr>
            </a:br>
            <a:endParaRPr sz="1200">
              <a:solidFill>
                <a:schemeClr val="dk1"/>
              </a:solidFill>
              <a:latin typeface="Calibri"/>
              <a:ea typeface="Calibri"/>
              <a:cs typeface="Calibri"/>
              <a:sym typeface="Calibri"/>
            </a:endParaRPr>
          </a:p>
          <a:p>
            <a:pPr indent="0" lvl="0" marL="0" rtl="0" algn="l">
              <a:spcBef>
                <a:spcPts val="1200"/>
              </a:spcBef>
              <a:spcAft>
                <a:spcPts val="0"/>
              </a:spcAft>
              <a:buNone/>
            </a:pPr>
            <a:r>
              <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53" name="Shape 253"/>
        <p:cNvGrpSpPr/>
        <p:nvPr/>
      </p:nvGrpSpPr>
      <p:grpSpPr>
        <a:xfrm>
          <a:off x="0" y="0"/>
          <a:ext cx="0" cy="0"/>
          <a:chOff x="0" y="0"/>
          <a:chExt cx="0" cy="0"/>
        </a:xfrm>
      </p:grpSpPr>
      <p:sp>
        <p:nvSpPr>
          <p:cNvPr id="254" name="Google Shape;254;p32"/>
          <p:cNvSpPr txBox="1"/>
          <p:nvPr/>
        </p:nvSpPr>
        <p:spPr>
          <a:xfrm>
            <a:off x="970597" y="1162050"/>
            <a:ext cx="80409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3600" u="none" cap="none" strike="noStrike">
                <a:solidFill>
                  <a:schemeClr val="accent2"/>
                </a:solidFill>
                <a:latin typeface="Inter"/>
                <a:ea typeface="Inter"/>
                <a:cs typeface="Inter"/>
                <a:sym typeface="Inter"/>
              </a:rPr>
              <a:t>Conclu</a:t>
            </a:r>
            <a:r>
              <a:rPr b="1" lang="en-US" sz="3600">
                <a:solidFill>
                  <a:schemeClr val="accent2"/>
                </a:solidFill>
                <a:latin typeface="Inter"/>
                <a:ea typeface="Inter"/>
                <a:cs typeface="Inter"/>
                <a:sym typeface="Inter"/>
              </a:rPr>
              <a:t>s</a:t>
            </a:r>
            <a:r>
              <a:rPr b="1" i="0" lang="en-US" sz="3600" u="none" cap="none" strike="noStrike">
                <a:solidFill>
                  <a:schemeClr val="accent2"/>
                </a:solidFill>
                <a:latin typeface="Inter"/>
                <a:ea typeface="Inter"/>
                <a:cs typeface="Inter"/>
                <a:sym typeface="Inter"/>
              </a:rPr>
              <a:t>ion</a:t>
            </a:r>
            <a:r>
              <a:rPr b="1" i="0" lang="en-US" sz="3600" u="none" cap="none" strike="noStrike">
                <a:solidFill>
                  <a:srgbClr val="00FFFF"/>
                </a:solidFill>
                <a:latin typeface="Inter"/>
                <a:ea typeface="Inter"/>
                <a:cs typeface="Inter"/>
                <a:sym typeface="Inter"/>
              </a:rPr>
              <a:t> </a:t>
            </a:r>
            <a:endParaRPr>
              <a:solidFill>
                <a:srgbClr val="00FFFF"/>
              </a:solidFill>
            </a:endParaRPr>
          </a:p>
        </p:txBody>
      </p:sp>
      <p:sp>
        <p:nvSpPr>
          <p:cNvPr id="255" name="Google Shape;255;p32"/>
          <p:cNvSpPr txBox="1"/>
          <p:nvPr/>
        </p:nvSpPr>
        <p:spPr>
          <a:xfrm>
            <a:off x="1162050" y="2105025"/>
            <a:ext cx="76581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a:t>
            </a:r>
            <a:endParaRPr/>
          </a:p>
        </p:txBody>
      </p:sp>
      <p:sp>
        <p:nvSpPr>
          <p:cNvPr id="256" name="Google Shape;256;p32"/>
          <p:cNvSpPr txBox="1"/>
          <p:nvPr/>
        </p:nvSpPr>
        <p:spPr>
          <a:xfrm>
            <a:off x="926500" y="1895200"/>
            <a:ext cx="9786600" cy="237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lang="en-US" sz="3200">
                <a:solidFill>
                  <a:schemeClr val="dk1"/>
                </a:solidFill>
                <a:latin typeface="Calibri"/>
                <a:ea typeface="Calibri"/>
                <a:cs typeface="Calibri"/>
                <a:sym typeface="Calibri"/>
              </a:rPr>
              <a:t>A dealership or company using this database can now easily track car inventory, monitor customer sales, and maintain accurate records without worrying about duplicated data, missing values, or invalid entries.</a:t>
            </a:r>
            <a:endParaRPr sz="3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93B"/>
        </a:solidFill>
      </p:bgPr>
    </p:bg>
    <p:spTree>
      <p:nvGrpSpPr>
        <p:cNvPr id="260" name="Shape 260"/>
        <p:cNvGrpSpPr/>
        <p:nvPr/>
      </p:nvGrpSpPr>
      <p:grpSpPr>
        <a:xfrm>
          <a:off x="0" y="0"/>
          <a:ext cx="0" cy="0"/>
          <a:chOff x="0" y="0"/>
          <a:chExt cx="0" cy="0"/>
        </a:xfrm>
      </p:grpSpPr>
      <p:sp>
        <p:nvSpPr>
          <p:cNvPr id="261" name="Google Shape;261;p33"/>
          <p:cNvSpPr txBox="1"/>
          <p:nvPr/>
        </p:nvSpPr>
        <p:spPr>
          <a:xfrm>
            <a:off x="970597" y="1162050"/>
            <a:ext cx="8040900" cy="554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600">
                <a:solidFill>
                  <a:schemeClr val="accent2"/>
                </a:solidFill>
                <a:latin typeface="Inter"/>
                <a:ea typeface="Inter"/>
                <a:cs typeface="Inter"/>
                <a:sym typeface="Inter"/>
              </a:rPr>
              <a:t>Resources we used</a:t>
            </a:r>
            <a:endParaRPr>
              <a:solidFill>
                <a:schemeClr val="accent2"/>
              </a:solidFill>
            </a:endParaRPr>
          </a:p>
        </p:txBody>
      </p:sp>
      <p:sp>
        <p:nvSpPr>
          <p:cNvPr id="262" name="Google Shape;262;p33"/>
          <p:cNvSpPr txBox="1"/>
          <p:nvPr/>
        </p:nvSpPr>
        <p:spPr>
          <a:xfrm>
            <a:off x="1162050" y="2105025"/>
            <a:ext cx="76581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Inter"/>
                <a:ea typeface="Inter"/>
                <a:cs typeface="Inter"/>
                <a:sym typeface="Inter"/>
              </a:rPr>
              <a:t>.</a:t>
            </a:r>
            <a:endParaRPr/>
          </a:p>
        </p:txBody>
      </p:sp>
      <p:sp>
        <p:nvSpPr>
          <p:cNvPr id="263" name="Google Shape;263;p33"/>
          <p:cNvSpPr txBox="1"/>
          <p:nvPr/>
        </p:nvSpPr>
        <p:spPr>
          <a:xfrm>
            <a:off x="926500" y="1895200"/>
            <a:ext cx="112656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Besides the sources used for project 1, the lecture recordings and the videos provided by the </a:t>
            </a:r>
            <a:r>
              <a:rPr lang="en-US" sz="3200">
                <a:solidFill>
                  <a:schemeClr val="dk1"/>
                </a:solidFill>
                <a:latin typeface="Calibri"/>
                <a:ea typeface="Calibri"/>
                <a:cs typeface="Calibri"/>
                <a:sym typeface="Calibri"/>
              </a:rPr>
              <a:t>professor</a:t>
            </a:r>
            <a:r>
              <a:rPr lang="en-US" sz="3200">
                <a:solidFill>
                  <a:schemeClr val="dk1"/>
                </a:solidFill>
                <a:latin typeface="Calibri"/>
                <a:ea typeface="Calibri"/>
                <a:cs typeface="Calibri"/>
                <a:sym typeface="Calibri"/>
              </a:rPr>
              <a:t> , we listened to these sources to get a better understanding:</a:t>
            </a:r>
            <a:endParaRPr sz="4700">
              <a:solidFill>
                <a:schemeClr val="dk1"/>
              </a:solidFill>
              <a:latin typeface="Calibri"/>
              <a:ea typeface="Calibri"/>
              <a:cs typeface="Calibri"/>
              <a:sym typeface="Calibri"/>
            </a:endParaRPr>
          </a:p>
          <a:p>
            <a:pPr indent="-393700" lvl="0" marL="457200" rtl="0" algn="l">
              <a:spcBef>
                <a:spcPts val="0"/>
              </a:spcBef>
              <a:spcAft>
                <a:spcPts val="0"/>
              </a:spcAft>
              <a:buSzPts val="2600"/>
              <a:buChar char="●"/>
            </a:pPr>
            <a:r>
              <a:rPr lang="en-US" sz="2600" u="sng">
                <a:solidFill>
                  <a:schemeClr val="hlink"/>
                </a:solidFill>
                <a:hlinkClick r:id="rId3"/>
              </a:rPr>
              <a:t>SQL Server ALTER SCHEMA Statement</a:t>
            </a:r>
            <a:endParaRPr sz="4700">
              <a:solidFill>
                <a:schemeClr val="dk1"/>
              </a:solidFill>
              <a:latin typeface="Calibri"/>
              <a:ea typeface="Calibri"/>
              <a:cs typeface="Calibri"/>
              <a:sym typeface="Calibri"/>
            </a:endParaRPr>
          </a:p>
          <a:p>
            <a:pPr indent="-393700" lvl="0" marL="457200" rtl="0" algn="l">
              <a:spcBef>
                <a:spcPts val="0"/>
              </a:spcBef>
              <a:spcAft>
                <a:spcPts val="0"/>
              </a:spcAft>
              <a:buSzPts val="2600"/>
              <a:buChar char="●"/>
            </a:pPr>
            <a:r>
              <a:rPr lang="en-US" sz="2600" u="sng">
                <a:solidFill>
                  <a:schemeClr val="hlink"/>
                </a:solidFill>
                <a:hlinkClick r:id="rId4"/>
              </a:rPr>
              <a:t>ALTER SCHEMA in SQL Server - GeeksforGeeks</a:t>
            </a:r>
            <a:endParaRPr sz="4700">
              <a:solidFill>
                <a:schemeClr val="dk1"/>
              </a:solidFill>
              <a:latin typeface="Calibri"/>
              <a:ea typeface="Calibri"/>
              <a:cs typeface="Calibri"/>
              <a:sym typeface="Calibri"/>
            </a:endParaRPr>
          </a:p>
          <a:p>
            <a:pPr indent="-393700" lvl="0" marL="457200" rtl="0" algn="l">
              <a:spcBef>
                <a:spcPts val="0"/>
              </a:spcBef>
              <a:spcAft>
                <a:spcPts val="0"/>
              </a:spcAft>
              <a:buSzPts val="2600"/>
              <a:buChar char="●"/>
            </a:pPr>
            <a:r>
              <a:rPr lang="en-US" sz="2600" u="sng">
                <a:solidFill>
                  <a:schemeClr val="hlink"/>
                </a:solidFill>
                <a:hlinkClick r:id="rId5"/>
              </a:rPr>
              <a:t>Unique constraints and check constraints - SQL Server |Microsoft Learn</a:t>
            </a:r>
            <a:endParaRPr sz="4700">
              <a:solidFill>
                <a:schemeClr val="dk1"/>
              </a:solidFill>
              <a:latin typeface="Calibri"/>
              <a:ea typeface="Calibri"/>
              <a:cs typeface="Calibri"/>
              <a:sym typeface="Calibri"/>
            </a:endParaRPr>
          </a:p>
          <a:p>
            <a:pPr indent="-393700" lvl="0" marL="457200" rtl="0" algn="l">
              <a:spcBef>
                <a:spcPts val="0"/>
              </a:spcBef>
              <a:spcAft>
                <a:spcPts val="0"/>
              </a:spcAft>
              <a:buSzPts val="2600"/>
              <a:buChar char="●"/>
            </a:pPr>
            <a:r>
              <a:rPr lang="en-US" sz="2600" u="sng">
                <a:solidFill>
                  <a:schemeClr val="hlink"/>
                </a:solidFill>
                <a:hlinkClick r:id="rId6"/>
              </a:rPr>
              <a:t>Refactoring Databases: The Process - Simple Talk</a:t>
            </a:r>
            <a:endParaRPr sz="47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